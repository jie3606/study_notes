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48" r:id="rId1"/>
  </p:sldMasterIdLst>
  <p:notesMasterIdLst>
    <p:notesMasterId r:id="rId21"/>
  </p:notesMasterIdLst>
  <p:sldIdLst>
    <p:sldId id="259" r:id="rId2"/>
    <p:sldId id="515" r:id="rId3"/>
    <p:sldId id="417" r:id="rId4"/>
    <p:sldId id="414" r:id="rId5"/>
    <p:sldId id="516" r:id="rId6"/>
    <p:sldId id="517" r:id="rId7"/>
    <p:sldId id="522" r:id="rId8"/>
    <p:sldId id="518" r:id="rId9"/>
    <p:sldId id="520" r:id="rId10"/>
    <p:sldId id="524" r:id="rId11"/>
    <p:sldId id="523" r:id="rId12"/>
    <p:sldId id="526" r:id="rId13"/>
    <p:sldId id="528" r:id="rId14"/>
    <p:sldId id="527" r:id="rId15"/>
    <p:sldId id="529" r:id="rId16"/>
    <p:sldId id="530" r:id="rId17"/>
    <p:sldId id="525" r:id="rId18"/>
    <p:sldId id="521" r:id="rId19"/>
    <p:sldId id="532"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CE"/>
    <a:srgbClr val="116A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3824" autoAdjust="0"/>
  </p:normalViewPr>
  <p:slideViewPr>
    <p:cSldViewPr showGuides="1">
      <p:cViewPr varScale="1">
        <p:scale>
          <a:sx n="113" d="100"/>
          <a:sy n="113" d="100"/>
        </p:scale>
        <p:origin x="516"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66" d="100"/>
          <a:sy n="66" d="100"/>
        </p:scale>
        <p:origin x="-3139"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D036B-205D-4093-AC19-833FED778816}" type="datetimeFigureOut">
              <a:rPr lang="zh-TW" altLang="en-US" smtClean="0"/>
              <a:pPr/>
              <a:t>2024/9/26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840F3-0AEE-45B2-AEA3-062CBA5E6298}" type="slidenum">
              <a:rPr lang="zh-TW" altLang="en-US" smtClean="0"/>
              <a:pPr/>
              <a:t>‹#›</a:t>
            </a:fld>
            <a:endParaRPr lang="zh-TW" altLang="en-US"/>
          </a:p>
        </p:txBody>
      </p:sp>
    </p:spTree>
    <p:extLst>
      <p:ext uri="{BB962C8B-B14F-4D97-AF65-F5344CB8AC3E}">
        <p14:creationId xmlns:p14="http://schemas.microsoft.com/office/powerpoint/2010/main" val="375801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 name="Google Shape;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a:buFont typeface="Wingdings" pitchFamily="2" charset="2"/>
              <a:buNone/>
            </a:pPr>
            <a:endParaRPr lang="en-US" altLang="zh-TW" sz="1200" dirty="0">
              <a:latin typeface="微軟正黑體" pitchFamily="34" charset="-120"/>
              <a:ea typeface="微軟正黑體" pitchFamily="34" charset="-120"/>
            </a:endParaRPr>
          </a:p>
          <a:p>
            <a:pPr marL="0" lvl="0" indent="0" algn="l" rtl="0">
              <a:spcBef>
                <a:spcPts val="0"/>
              </a:spcBef>
              <a:spcAft>
                <a:spcPts val="0"/>
              </a:spcAft>
              <a:buNone/>
            </a:pPr>
            <a:endParaRPr dirty="0"/>
          </a:p>
        </p:txBody>
      </p:sp>
      <p:sp>
        <p:nvSpPr>
          <p:cNvPr id="60" name="Google Shape;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pPr marL="0" lvl="0" indent="0" algn="r" rtl="0">
                <a:spcBef>
                  <a:spcPts val="0"/>
                </a:spcBef>
                <a:spcAft>
                  <a:spcPts val="0"/>
                </a:spcAft>
                <a:buNone/>
              </a:pPr>
              <a:t>1</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083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95840F3-0AEE-45B2-AEA3-062CBA5E6298}" type="slidenum">
              <a:rPr lang="zh-TW" altLang="en-US" smtClean="0"/>
              <a:pPr/>
              <a:t>2</a:t>
            </a:fld>
            <a:endParaRPr lang="zh-TW" altLang="en-US"/>
          </a:p>
        </p:txBody>
      </p:sp>
    </p:spTree>
    <p:extLst>
      <p:ext uri="{BB962C8B-B14F-4D97-AF65-F5344CB8AC3E}">
        <p14:creationId xmlns:p14="http://schemas.microsoft.com/office/powerpoint/2010/main" val="1774783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dirty="0"/>
          </a:p>
        </p:txBody>
      </p:sp>
      <p:sp>
        <p:nvSpPr>
          <p:cNvPr id="4" name="投影片編號版面配置區 3"/>
          <p:cNvSpPr>
            <a:spLocks noGrp="1"/>
          </p:cNvSpPr>
          <p:nvPr>
            <p:ph type="sldNum" sz="quarter" idx="5"/>
          </p:nvPr>
        </p:nvSpPr>
        <p:spPr/>
        <p:txBody>
          <a:bodyPr/>
          <a:lstStyle/>
          <a:p>
            <a:fld id="{695840F3-0AEE-45B2-AEA3-062CBA5E6298}" type="slidenum">
              <a:rPr lang="zh-TW" altLang="en-US" smtClean="0"/>
              <a:pPr/>
              <a:t>4</a:t>
            </a:fld>
            <a:endParaRPr lang="zh-TW" altLang="en-US"/>
          </a:p>
        </p:txBody>
      </p:sp>
    </p:spTree>
    <p:extLst>
      <p:ext uri="{BB962C8B-B14F-4D97-AF65-F5344CB8AC3E}">
        <p14:creationId xmlns:p14="http://schemas.microsoft.com/office/powerpoint/2010/main" val="70490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 name="Google Shape;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a:buFont typeface="Wingdings" pitchFamily="2" charset="2"/>
              <a:buNone/>
            </a:pPr>
            <a:endParaRPr lang="en-US" altLang="zh-TW" sz="1200" dirty="0">
              <a:latin typeface="微軟正黑體" pitchFamily="34" charset="-120"/>
              <a:ea typeface="微軟正黑體" pitchFamily="34" charset="-120"/>
            </a:endParaRPr>
          </a:p>
          <a:p>
            <a:pPr marL="0" lvl="0" indent="0" algn="l" rtl="0">
              <a:spcBef>
                <a:spcPts val="0"/>
              </a:spcBef>
              <a:spcAft>
                <a:spcPts val="0"/>
              </a:spcAft>
              <a:buNone/>
            </a:pPr>
            <a:endParaRPr dirty="0"/>
          </a:p>
        </p:txBody>
      </p:sp>
      <p:sp>
        <p:nvSpPr>
          <p:cNvPr id="60" name="Google Shape;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pPr marL="0" lvl="0" indent="0" algn="r" rtl="0">
                <a:spcBef>
                  <a:spcPts val="0"/>
                </a:spcBef>
                <a:spcAft>
                  <a:spcPts val="0"/>
                </a:spcAft>
                <a:buNone/>
              </a:pPr>
              <a:t>19</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796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104373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4052207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240101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1155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686229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2017009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3223166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397503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110369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2719746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3877452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9_標題及物件">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DC0E0A09-66ED-437B-A162-D311F9154807}"/>
              </a:ext>
            </a:extLst>
          </p:cNvPr>
          <p:cNvSpPr>
            <a:spLocks noGrp="1"/>
          </p:cNvSpPr>
          <p:nvPr>
            <p:ph type="title" hasCustomPrompt="1"/>
          </p:nvPr>
        </p:nvSpPr>
        <p:spPr>
          <a:xfrm>
            <a:off x="509864" y="212453"/>
            <a:ext cx="9000000" cy="540000"/>
          </a:xfrm>
          <a:prstGeom prst="rect">
            <a:avLst/>
          </a:prstGeom>
        </p:spPr>
        <p:txBody>
          <a:bodyPr lIns="18000" tIns="18000" rIns="18000" bIns="18000" anchor="ctr">
            <a:noAutofit/>
          </a:bodyPr>
          <a:lstStyle>
            <a:lvl1pPr fontAlgn="ctr">
              <a:lnSpc>
                <a:spcPct val="110000"/>
              </a:lnSpc>
              <a:defRPr sz="3400" b="0" baseline="0">
                <a:latin typeface="Century Gothic" panose="020B0502020202020204" pitchFamily="34" charset="0"/>
                <a:ea typeface="微軟正黑體" panose="020B0604030504040204" pitchFamily="34" charset="-120"/>
              </a:defRPr>
            </a:lvl1pPr>
          </a:lstStyle>
          <a:p>
            <a:r>
              <a:rPr lang="en-GB" noProof="0" dirty="0"/>
              <a:t>Heading Verdana regular</a:t>
            </a:r>
          </a:p>
        </p:txBody>
      </p:sp>
      <p:sp>
        <p:nvSpPr>
          <p:cNvPr id="11" name="標題 1">
            <a:extLst>
              <a:ext uri="{FF2B5EF4-FFF2-40B4-BE49-F238E27FC236}">
                <a16:creationId xmlns:a16="http://schemas.microsoft.com/office/drawing/2014/main" id="{77B812E0-C3EE-453F-93DB-0D753F960338}"/>
              </a:ext>
            </a:extLst>
          </p:cNvPr>
          <p:cNvSpPr txBox="1">
            <a:spLocks/>
          </p:cNvSpPr>
          <p:nvPr userDrawn="1"/>
        </p:nvSpPr>
        <p:spPr>
          <a:xfrm>
            <a:off x="-10459" y="264696"/>
            <a:ext cx="331304" cy="467337"/>
          </a:xfrm>
          <a:prstGeom prst="rect">
            <a:avLst/>
          </a:prstGeom>
          <a:gradFill>
            <a:gsLst>
              <a:gs pos="0">
                <a:schemeClr val="accent6">
                  <a:lumMod val="50000"/>
                </a:schemeClr>
              </a:gs>
              <a:gs pos="30000">
                <a:schemeClr val="accent6">
                  <a:lumMod val="75000"/>
                </a:schemeClr>
              </a:gs>
              <a:gs pos="100000">
                <a:schemeClr val="accent6">
                  <a:lumMod val="60000"/>
                  <a:lumOff val="40000"/>
                </a:schemeClr>
              </a:gs>
            </a:gsLst>
            <a:lin ang="2400000" scaled="0"/>
          </a:gradFill>
        </p:spPr>
        <p:txBody>
          <a:bodyPr lIns="18000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4400" dirty="0">
              <a:solidFill>
                <a:schemeClr val="bg1"/>
              </a:solidFill>
              <a:latin typeface="Century Gothic" panose="020B0502020202020204" pitchFamily="34" charset="0"/>
            </a:endParaRPr>
          </a:p>
        </p:txBody>
      </p:sp>
      <p:sp>
        <p:nvSpPr>
          <p:cNvPr id="12" name="標題 1">
            <a:extLst>
              <a:ext uri="{FF2B5EF4-FFF2-40B4-BE49-F238E27FC236}">
                <a16:creationId xmlns:a16="http://schemas.microsoft.com/office/drawing/2014/main" id="{807DA2E7-E094-407D-9FFB-11DB66E13F51}"/>
              </a:ext>
            </a:extLst>
          </p:cNvPr>
          <p:cNvSpPr txBox="1">
            <a:spLocks/>
          </p:cNvSpPr>
          <p:nvPr userDrawn="1"/>
        </p:nvSpPr>
        <p:spPr>
          <a:xfrm>
            <a:off x="9924380" y="264696"/>
            <a:ext cx="2016000" cy="467337"/>
          </a:xfrm>
          <a:prstGeom prst="rect">
            <a:avLst/>
          </a:prstGeom>
          <a:solidFill>
            <a:srgbClr val="5D6D7C"/>
          </a:solidFill>
        </p:spPr>
        <p:txBody>
          <a:bodyPr lIns="18000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4400" dirty="0">
              <a:solidFill>
                <a:schemeClr val="bg1"/>
              </a:solidFill>
              <a:latin typeface="Century Gothic" panose="020B0502020202020204" pitchFamily="34" charset="0"/>
            </a:endParaRPr>
          </a:p>
        </p:txBody>
      </p:sp>
      <p:sp>
        <p:nvSpPr>
          <p:cNvPr id="13" name="標題 1">
            <a:extLst>
              <a:ext uri="{FF2B5EF4-FFF2-40B4-BE49-F238E27FC236}">
                <a16:creationId xmlns:a16="http://schemas.microsoft.com/office/drawing/2014/main" id="{ED6289C4-405B-4331-85EE-5BDE8EE18817}"/>
              </a:ext>
            </a:extLst>
          </p:cNvPr>
          <p:cNvSpPr txBox="1">
            <a:spLocks/>
          </p:cNvSpPr>
          <p:nvPr userDrawn="1"/>
        </p:nvSpPr>
        <p:spPr>
          <a:xfrm>
            <a:off x="12044545" y="264696"/>
            <a:ext cx="231096" cy="467337"/>
          </a:xfrm>
          <a:prstGeom prst="rect">
            <a:avLst/>
          </a:prstGeom>
          <a:gradFill flip="none" rotWithShape="1">
            <a:gsLst>
              <a:gs pos="0">
                <a:schemeClr val="accent5">
                  <a:lumMod val="50000"/>
                </a:schemeClr>
              </a:gs>
              <a:gs pos="50000">
                <a:schemeClr val="accent6">
                  <a:lumMod val="75000"/>
                </a:schemeClr>
              </a:gs>
              <a:gs pos="100000">
                <a:schemeClr val="accent6">
                  <a:lumMod val="60000"/>
                  <a:lumOff val="40000"/>
                </a:schemeClr>
              </a:gs>
            </a:gsLst>
            <a:lin ang="2700000" scaled="1"/>
            <a:tileRect/>
          </a:gradFill>
        </p:spPr>
        <p:txBody>
          <a:bodyPr lIns="18000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4400" dirty="0">
              <a:solidFill>
                <a:schemeClr val="bg1"/>
              </a:solidFill>
              <a:latin typeface="Century Gothic" panose="020B0502020202020204" pitchFamily="34" charset="0"/>
            </a:endParaRPr>
          </a:p>
        </p:txBody>
      </p:sp>
      <p:pic>
        <p:nvPicPr>
          <p:cNvPr id="14" name="圖形 16">
            <a:extLst>
              <a:ext uri="{FF2B5EF4-FFF2-40B4-BE49-F238E27FC236}">
                <a16:creationId xmlns:a16="http://schemas.microsoft.com/office/drawing/2014/main" id="{7F5D93CE-3701-415D-A1F8-CD880EA3658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8523" y="380350"/>
            <a:ext cx="923320" cy="233109"/>
          </a:xfrm>
          <a:prstGeom prst="rect">
            <a:avLst/>
          </a:prstGeom>
        </p:spPr>
      </p:pic>
    </p:spTree>
    <p:extLst>
      <p:ext uri="{BB962C8B-B14F-4D97-AF65-F5344CB8AC3E}">
        <p14:creationId xmlns:p14="http://schemas.microsoft.com/office/powerpoint/2010/main" val="877884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ront cover">
  <p:cSld name="Front cover">
    <p:spTree>
      <p:nvGrpSpPr>
        <p:cNvPr id="1" name="Shape 10"/>
        <p:cNvGrpSpPr/>
        <p:nvPr/>
      </p:nvGrpSpPr>
      <p:grpSpPr>
        <a:xfrm>
          <a:off x="0" y="0"/>
          <a:ext cx="0" cy="0"/>
          <a:chOff x="0" y="0"/>
          <a:chExt cx="0" cy="0"/>
        </a:xfrm>
      </p:grpSpPr>
      <p:pic>
        <p:nvPicPr>
          <p:cNvPr id="11" name="Google Shape;11;p9"/>
          <p:cNvPicPr preferRelativeResize="0"/>
          <p:nvPr/>
        </p:nvPicPr>
        <p:blipFill rotWithShape="1">
          <a:blip r:embed="rId2" cstate="print">
            <a:alphaModFix/>
          </a:blip>
          <a:srcRect/>
          <a:stretch/>
        </p:blipFill>
        <p:spPr>
          <a:xfrm>
            <a:off x="-1" y="0"/>
            <a:ext cx="12222147" cy="6858000"/>
          </a:xfrm>
          <a:prstGeom prst="rect">
            <a:avLst/>
          </a:prstGeom>
          <a:noFill/>
          <a:ln>
            <a:noFill/>
          </a:ln>
        </p:spPr>
      </p:pic>
      <p:sp>
        <p:nvSpPr>
          <p:cNvPr id="12" name="Google Shape;12;p9"/>
          <p:cNvSpPr txBox="1">
            <a:spLocks noGrp="1"/>
          </p:cNvSpPr>
          <p:nvPr>
            <p:ph type="title"/>
          </p:nvPr>
        </p:nvSpPr>
        <p:spPr>
          <a:xfrm>
            <a:off x="838200" y="1988918"/>
            <a:ext cx="10515600" cy="240018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800" b="0" i="0" u="none" strike="noStrike" cap="none">
                <a:solidFill>
                  <a:schemeClr val="dk1"/>
                </a:solidFill>
                <a:latin typeface="Century Gothic"/>
                <a:ea typeface="Century Gothic"/>
                <a:cs typeface="Century Gothic"/>
                <a:sym typeface="Century Gothic"/>
              </a:defRPr>
            </a:lvl1pPr>
            <a:lvl2pPr marR="0" lvl="1"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5867"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body" idx="1"/>
          </p:nvPr>
        </p:nvSpPr>
        <p:spPr>
          <a:xfrm>
            <a:off x="843210" y="4763333"/>
            <a:ext cx="10510591" cy="1219200"/>
          </a:xfrm>
          <a:prstGeom prst="rect">
            <a:avLst/>
          </a:prstGeom>
          <a:noFill/>
          <a:ln>
            <a:noFill/>
          </a:ln>
        </p:spPr>
        <p:txBody>
          <a:bodyPr spcFirstLastPara="1" wrap="square" lIns="91425" tIns="45700" rIns="91425" bIns="45700" anchor="t" anchorCtr="0">
            <a:noAutofit/>
          </a:bodyPr>
          <a:lstStyle>
            <a:lvl1pPr marL="609585" marR="0" lvl="0" indent="-304792" algn="l" rtl="0">
              <a:spcBef>
                <a:spcPts val="373"/>
              </a:spcBef>
              <a:spcAft>
                <a:spcPts val="0"/>
              </a:spcAft>
              <a:buClr>
                <a:schemeClr val="dk1"/>
              </a:buClr>
              <a:buSzPts val="1400"/>
              <a:buFont typeface="Arial"/>
              <a:buNone/>
              <a:defRPr sz="1867" b="0" i="0" u="none" strike="noStrike" cap="none">
                <a:solidFill>
                  <a:schemeClr val="dk1"/>
                </a:solidFill>
                <a:latin typeface="Calibri"/>
                <a:ea typeface="Calibri"/>
                <a:cs typeface="Calibri"/>
                <a:sym typeface="Calibri"/>
              </a:defRPr>
            </a:lvl1pPr>
            <a:lvl2pPr marL="1219170" marR="0" lvl="1" indent="-541853" algn="l" rtl="0">
              <a:spcBef>
                <a:spcPts val="747"/>
              </a:spcBef>
              <a:spcAft>
                <a:spcPts val="0"/>
              </a:spcAft>
              <a:buClr>
                <a:schemeClr val="dk1"/>
              </a:buClr>
              <a:buSzPts val="2800"/>
              <a:buFont typeface="Arial"/>
              <a:buChar char="–"/>
              <a:defRPr sz="3733" b="0" i="0" u="none" strike="noStrike" cap="none">
                <a:solidFill>
                  <a:schemeClr val="dk1"/>
                </a:solidFill>
                <a:latin typeface="Calibri"/>
                <a:ea typeface="Calibri"/>
                <a:cs typeface="Calibri"/>
                <a:sym typeface="Calibri"/>
              </a:defRPr>
            </a:lvl2pPr>
            <a:lvl3pPr marL="1828754" marR="0" lvl="2" indent="-507987" algn="l" rtl="0">
              <a:spcBef>
                <a:spcPts val="640"/>
              </a:spcBef>
              <a:spcAft>
                <a:spcPts val="0"/>
              </a:spcAft>
              <a:buClr>
                <a:schemeClr val="dk1"/>
              </a:buClr>
              <a:buSzPts val="2400"/>
              <a:buFont typeface="Arial"/>
              <a:buChar char="•"/>
              <a:defRPr sz="3200" b="0" i="0" u="none" strike="noStrike" cap="none">
                <a:solidFill>
                  <a:schemeClr val="dk1"/>
                </a:solidFill>
                <a:latin typeface="Calibri"/>
                <a:ea typeface="Calibri"/>
                <a:cs typeface="Calibri"/>
                <a:sym typeface="Calibri"/>
              </a:defRPr>
            </a:lvl3pPr>
            <a:lvl4pPr marL="2438339" marR="0" lvl="3"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4pPr>
            <a:lvl5pPr marL="3047924" marR="0" lvl="4"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5pPr>
            <a:lvl6pPr marL="3657509" marR="0" lvl="5"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pic>
        <p:nvPicPr>
          <p:cNvPr id="14" name="Google Shape;14;p9"/>
          <p:cNvPicPr preferRelativeResize="0"/>
          <p:nvPr/>
        </p:nvPicPr>
        <p:blipFill rotWithShape="1">
          <a:blip r:embed="rId3" cstate="print">
            <a:alphaModFix/>
          </a:blip>
          <a:srcRect/>
          <a:stretch/>
        </p:blipFill>
        <p:spPr>
          <a:xfrm>
            <a:off x="410264" y="613136"/>
            <a:ext cx="2652771" cy="1326385"/>
          </a:xfrm>
          <a:prstGeom prst="rect">
            <a:avLst/>
          </a:prstGeom>
          <a:noFill/>
          <a:ln>
            <a:noFill/>
          </a:ln>
        </p:spPr>
      </p:pic>
    </p:spTree>
    <p:extLst>
      <p:ext uri="{BB962C8B-B14F-4D97-AF65-F5344CB8AC3E}">
        <p14:creationId xmlns:p14="http://schemas.microsoft.com/office/powerpoint/2010/main" val="1980532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sp>
        <p:nvSpPr>
          <p:cNvPr id="2" name="矩形 1"/>
          <p:cNvSpPr/>
          <p:nvPr userDrawn="1"/>
        </p:nvSpPr>
        <p:spPr>
          <a:xfrm flipV="1">
            <a:off x="0" y="-28575"/>
            <a:ext cx="12192000" cy="917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8" name="手繪多邊形 47"/>
          <p:cNvSpPr/>
          <p:nvPr userDrawn="1"/>
        </p:nvSpPr>
        <p:spPr>
          <a:xfrm>
            <a:off x="0" y="-38100"/>
            <a:ext cx="9321800" cy="971550"/>
          </a:xfrm>
          <a:custGeom>
            <a:avLst/>
            <a:gdLst>
              <a:gd name="connsiteX0" fmla="*/ 7010400 w 7010400"/>
              <a:gd name="connsiteY0" fmla="*/ 444500 h 971550"/>
              <a:gd name="connsiteX1" fmla="*/ 5657850 w 7010400"/>
              <a:gd name="connsiteY1" fmla="*/ 971550 h 971550"/>
              <a:gd name="connsiteX2" fmla="*/ 0 w 7010400"/>
              <a:gd name="connsiteY2" fmla="*/ 971550 h 971550"/>
              <a:gd name="connsiteX3" fmla="*/ 0 w 7010400"/>
              <a:gd name="connsiteY3" fmla="*/ 0 h 971550"/>
              <a:gd name="connsiteX4" fmla="*/ 4483100 w 7010400"/>
              <a:gd name="connsiteY4" fmla="*/ 0 h 971550"/>
              <a:gd name="connsiteX5" fmla="*/ 7010400 w 7010400"/>
              <a:gd name="connsiteY5" fmla="*/ 444500 h 97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0400" h="971550">
                <a:moveTo>
                  <a:pt x="7010400" y="444500"/>
                </a:moveTo>
                <a:lnTo>
                  <a:pt x="5657850" y="971550"/>
                </a:lnTo>
                <a:lnTo>
                  <a:pt x="0" y="971550"/>
                </a:lnTo>
                <a:lnTo>
                  <a:pt x="0" y="0"/>
                </a:lnTo>
                <a:lnTo>
                  <a:pt x="4483100" y="0"/>
                </a:lnTo>
                <a:lnTo>
                  <a:pt x="7010400" y="444500"/>
                </a:lnTo>
                <a:close/>
              </a:path>
            </a:pathLst>
          </a:custGeom>
          <a:gradFill flip="none" rotWithShape="1">
            <a:gsLst>
              <a:gs pos="0">
                <a:schemeClr val="bg2">
                  <a:shade val="30000"/>
                  <a:satMod val="115000"/>
                  <a:lumMod val="79000"/>
                  <a:alpha val="18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TW" altLang="en-US" sz="1800"/>
          </a:p>
        </p:txBody>
      </p:sp>
      <p:sp>
        <p:nvSpPr>
          <p:cNvPr id="13" name="矩形 12"/>
          <p:cNvSpPr/>
          <p:nvPr userDrawn="1"/>
        </p:nvSpPr>
        <p:spPr>
          <a:xfrm>
            <a:off x="0" y="6505575"/>
            <a:ext cx="12192000" cy="365656"/>
          </a:xfrm>
          <a:prstGeom prst="rect">
            <a:avLst/>
          </a:prstGeom>
          <a:solidFill>
            <a:schemeClr val="bg2">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cxnSp>
        <p:nvCxnSpPr>
          <p:cNvPr id="4" name="直線接點 3"/>
          <p:cNvCxnSpPr/>
          <p:nvPr userDrawn="1"/>
        </p:nvCxnSpPr>
        <p:spPr>
          <a:xfrm flipV="1">
            <a:off x="239184" y="-28575"/>
            <a:ext cx="0" cy="91757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txBox="1">
            <a:spLocks/>
          </p:cNvSpPr>
          <p:nvPr userDrawn="1"/>
        </p:nvSpPr>
        <p:spPr>
          <a:xfrm>
            <a:off x="10713719" y="6664698"/>
            <a:ext cx="1450188" cy="23635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70C0"/>
                </a:solidFill>
                <a:latin typeface="Arial" pitchFamily="34" charset="0"/>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700" dirty="0">
                <a:solidFill>
                  <a:schemeClr val="bg1">
                    <a:lumMod val="50000"/>
                  </a:schemeClr>
                </a:solidFill>
                <a:latin typeface="Century Gothic" pitchFamily="34" charset="0"/>
              </a:rPr>
              <a:t>MSI</a:t>
            </a:r>
            <a:r>
              <a:rPr lang="zh-TW" altLang="en-US" sz="700" dirty="0">
                <a:solidFill>
                  <a:schemeClr val="bg1">
                    <a:lumMod val="50000"/>
                  </a:schemeClr>
                </a:solidFill>
                <a:latin typeface="Century Gothic" pitchFamily="34" charset="0"/>
              </a:rPr>
              <a:t> </a:t>
            </a:r>
            <a:r>
              <a:rPr lang="en-US" sz="700" dirty="0">
                <a:solidFill>
                  <a:schemeClr val="bg1">
                    <a:lumMod val="50000"/>
                  </a:schemeClr>
                </a:solidFill>
                <a:latin typeface="Century Gothic" pitchFamily="34" charset="0"/>
              </a:rPr>
              <a:t>CONFIDENTIAL</a:t>
            </a:r>
            <a:endParaRPr lang="nl-NL" sz="200" dirty="0">
              <a:solidFill>
                <a:schemeClr val="bg1">
                  <a:lumMod val="50000"/>
                </a:schemeClr>
              </a:solidFill>
              <a:latin typeface="Century Gothic" pitchFamily="34" charset="0"/>
            </a:endParaRPr>
          </a:p>
        </p:txBody>
      </p:sp>
      <p:sp>
        <p:nvSpPr>
          <p:cNvPr id="11" name="投影片編號版面配置區 3"/>
          <p:cNvSpPr>
            <a:spLocks noGrp="1"/>
          </p:cNvSpPr>
          <p:nvPr userDrawn="1">
            <p:ph type="sldNum" sz="quarter" idx="10"/>
          </p:nvPr>
        </p:nvSpPr>
        <p:spPr>
          <a:xfrm>
            <a:off x="-11827" y="6652597"/>
            <a:ext cx="557925" cy="240218"/>
          </a:xfrm>
          <a:prstGeom prst="rect">
            <a:avLst/>
          </a:prstGeom>
        </p:spPr>
        <p:txBody>
          <a:bodyPr/>
          <a:lstStyle>
            <a:lvl1pPr algn="r">
              <a:defRPr sz="700" smtClean="0">
                <a:solidFill>
                  <a:schemeClr val="bg1">
                    <a:lumMod val="50000"/>
                  </a:schemeClr>
                </a:solidFill>
                <a:latin typeface="Arial" pitchFamily="34" charset="0"/>
                <a:ea typeface="新細明體" pitchFamily="18" charset="-120"/>
              </a:defRPr>
            </a:lvl1pPr>
          </a:lstStyle>
          <a:p>
            <a:pPr>
              <a:defRPr/>
            </a:pPr>
            <a:fld id="{B67B7200-41BA-4AA0-B323-1C7FE9C1F431}" type="slidenum">
              <a:rPr lang="zh-TW" altLang="en-US" smtClean="0"/>
              <a:pPr>
                <a:defRPr/>
              </a:pPr>
              <a:t>‹#›</a:t>
            </a:fld>
            <a:endParaRPr lang="zh-TW" altLang="en-US" dirty="0"/>
          </a:p>
        </p:txBody>
      </p:sp>
      <p:sp>
        <p:nvSpPr>
          <p:cNvPr id="32" name="手繪多邊形 31"/>
          <p:cNvSpPr/>
          <p:nvPr userDrawn="1"/>
        </p:nvSpPr>
        <p:spPr>
          <a:xfrm rot="16200000">
            <a:off x="8849891" y="-1026752"/>
            <a:ext cx="531075" cy="3403599"/>
          </a:xfrm>
          <a:custGeom>
            <a:avLst/>
            <a:gdLst>
              <a:gd name="connsiteX0" fmla="*/ 0 w 742950"/>
              <a:gd name="connsiteY0" fmla="*/ 0 h 1238250"/>
              <a:gd name="connsiteX1" fmla="*/ 742950 w 742950"/>
              <a:gd name="connsiteY1" fmla="*/ 692150 h 1238250"/>
              <a:gd name="connsiteX2" fmla="*/ 0 w 742950"/>
              <a:gd name="connsiteY2" fmla="*/ 1238250 h 1238250"/>
              <a:gd name="connsiteX3" fmla="*/ 0 w 742950"/>
              <a:gd name="connsiteY3" fmla="*/ 0 h 1238250"/>
            </a:gdLst>
            <a:ahLst/>
            <a:cxnLst>
              <a:cxn ang="0">
                <a:pos x="connsiteX0" y="connsiteY0"/>
              </a:cxn>
              <a:cxn ang="0">
                <a:pos x="connsiteX1" y="connsiteY1"/>
              </a:cxn>
              <a:cxn ang="0">
                <a:pos x="connsiteX2" y="connsiteY2"/>
              </a:cxn>
              <a:cxn ang="0">
                <a:pos x="connsiteX3" y="connsiteY3"/>
              </a:cxn>
            </a:cxnLst>
            <a:rect l="l" t="t" r="r" b="b"/>
            <a:pathLst>
              <a:path w="742950" h="1238250">
                <a:moveTo>
                  <a:pt x="0" y="0"/>
                </a:moveTo>
                <a:lnTo>
                  <a:pt x="742950" y="692150"/>
                </a:lnTo>
                <a:lnTo>
                  <a:pt x="0" y="1238250"/>
                </a:lnTo>
                <a:lnTo>
                  <a:pt x="0" y="0"/>
                </a:lnTo>
                <a:close/>
              </a:path>
            </a:pathLst>
          </a:custGeom>
          <a:gradFill flip="none" rotWithShape="1">
            <a:gsLst>
              <a:gs pos="100000">
                <a:schemeClr val="bg2">
                  <a:shade val="30000"/>
                  <a:satMod val="115000"/>
                  <a:lumMod val="79000"/>
                  <a:alpha val="24000"/>
                </a:schemeClr>
              </a:gs>
              <a:gs pos="0">
                <a:schemeClr val="bg2">
                  <a:shade val="100000"/>
                  <a:satMod val="115000"/>
                  <a:lumMod val="93000"/>
                  <a:lumOff val="7000"/>
                  <a:alpha val="42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5" name="Title 1"/>
          <p:cNvSpPr txBox="1">
            <a:spLocks/>
          </p:cNvSpPr>
          <p:nvPr userDrawn="1"/>
        </p:nvSpPr>
        <p:spPr>
          <a:xfrm>
            <a:off x="334434" y="332657"/>
            <a:ext cx="5928783" cy="719137"/>
          </a:xfrm>
          <a:prstGeom prst="rect">
            <a:avLst/>
          </a:prstGeom>
          <a:noFill/>
        </p:spPr>
        <p:txBody>
          <a:bodyPr/>
          <a:lstStyle>
            <a:lvl1pPr algn="l" defTabSz="914400" rtl="0" eaLnBrk="1" latinLnBrk="0" hangingPunct="1">
              <a:lnSpc>
                <a:spcPct val="90000"/>
              </a:lnSpc>
              <a:spcBef>
                <a:spcPct val="0"/>
              </a:spcBef>
              <a:buNone/>
              <a:defRPr sz="3600" kern="1200">
                <a:solidFill>
                  <a:srgbClr val="FF0000"/>
                </a:solidFill>
                <a:latin typeface="Century Gothic" pitchFamily="34" charset="0"/>
                <a:ea typeface="+mj-ea"/>
                <a:cs typeface="+mj-cs"/>
              </a:defRPr>
            </a:lvl1pPr>
          </a:lstStyle>
          <a:p>
            <a:endParaRPr lang="nl-NL" altLang="zh-TW" sz="3600" dirty="0">
              <a:solidFill>
                <a:schemeClr val="tx1"/>
              </a:solidFill>
            </a:endParaRPr>
          </a:p>
        </p:txBody>
      </p:sp>
      <p:sp>
        <p:nvSpPr>
          <p:cNvPr id="41" name="矩形 40"/>
          <p:cNvSpPr/>
          <p:nvPr userDrawn="1"/>
        </p:nvSpPr>
        <p:spPr>
          <a:xfrm flipV="1">
            <a:off x="0" y="883319"/>
            <a:ext cx="12192000" cy="57559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3" name="Content Placeholder 2"/>
          <p:cNvSpPr txBox="1">
            <a:spLocks/>
          </p:cNvSpPr>
          <p:nvPr userDrawn="1"/>
        </p:nvSpPr>
        <p:spPr>
          <a:xfrm>
            <a:off x="546099" y="1051793"/>
            <a:ext cx="11391900" cy="54537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70C0"/>
                </a:solidFill>
                <a:latin typeface="Arial" pitchFamily="34" charset="0"/>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l-NL" sz="1400" dirty="0">
              <a:latin typeface="Century Gothic" pitchFamily="34" charset="0"/>
            </a:endParaRPr>
          </a:p>
        </p:txBody>
      </p:sp>
      <p:cxnSp>
        <p:nvCxnSpPr>
          <p:cNvPr id="45" name="直線接點 44"/>
          <p:cNvCxnSpPr/>
          <p:nvPr userDrawn="1"/>
        </p:nvCxnSpPr>
        <p:spPr>
          <a:xfrm>
            <a:off x="606304" y="6760015"/>
            <a:ext cx="10068560" cy="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46" name="手繪多邊形 45"/>
          <p:cNvSpPr/>
          <p:nvPr userDrawn="1"/>
        </p:nvSpPr>
        <p:spPr>
          <a:xfrm>
            <a:off x="5667632" y="-28575"/>
            <a:ext cx="6524368" cy="440467"/>
          </a:xfrm>
          <a:custGeom>
            <a:avLst/>
            <a:gdLst>
              <a:gd name="connsiteX0" fmla="*/ 2743200 w 4893276"/>
              <a:gd name="connsiteY0" fmla="*/ 428368 h 428368"/>
              <a:gd name="connsiteX1" fmla="*/ 0 w 4893276"/>
              <a:gd name="connsiteY1" fmla="*/ 0 h 428368"/>
              <a:gd name="connsiteX2" fmla="*/ 4893276 w 4893276"/>
              <a:gd name="connsiteY2" fmla="*/ 0 h 428368"/>
              <a:gd name="connsiteX3" fmla="*/ 4893276 w 4893276"/>
              <a:gd name="connsiteY3" fmla="*/ 181233 h 428368"/>
              <a:gd name="connsiteX4" fmla="*/ 2743200 w 4893276"/>
              <a:gd name="connsiteY4" fmla="*/ 428368 h 428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3276" h="428368">
                <a:moveTo>
                  <a:pt x="2743200" y="428368"/>
                </a:moveTo>
                <a:lnTo>
                  <a:pt x="0" y="0"/>
                </a:lnTo>
                <a:lnTo>
                  <a:pt x="4893276" y="0"/>
                </a:lnTo>
                <a:lnTo>
                  <a:pt x="4893276" y="181233"/>
                </a:lnTo>
                <a:lnTo>
                  <a:pt x="2743200" y="428368"/>
                </a:lnTo>
                <a:close/>
              </a:path>
            </a:pathLst>
          </a:custGeom>
          <a:gradFill flip="none" rotWithShape="1">
            <a:gsLst>
              <a:gs pos="95000">
                <a:schemeClr val="bg2">
                  <a:shade val="30000"/>
                  <a:satMod val="115000"/>
                  <a:lumMod val="79000"/>
                  <a:alpha val="24000"/>
                </a:schemeClr>
              </a:gs>
              <a:gs pos="0">
                <a:schemeClr val="bg1"/>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TW" altLang="en-US" sz="1800"/>
          </a:p>
        </p:txBody>
      </p:sp>
      <p:sp>
        <p:nvSpPr>
          <p:cNvPr id="10" name="Title 1"/>
          <p:cNvSpPr>
            <a:spLocks noGrp="1"/>
          </p:cNvSpPr>
          <p:nvPr>
            <p:ph type="ctrTitle"/>
          </p:nvPr>
        </p:nvSpPr>
        <p:spPr>
          <a:xfrm>
            <a:off x="334433" y="266752"/>
            <a:ext cx="10166080" cy="666699"/>
          </a:xfrm>
          <a:prstGeom prst="rect">
            <a:avLst/>
          </a:prstGeom>
          <a:noFill/>
        </p:spPr>
        <p:txBody>
          <a:bodyPr>
            <a:normAutofit/>
          </a:bodyPr>
          <a:lstStyle>
            <a:lvl1pPr algn="l">
              <a:defRPr sz="3600">
                <a:solidFill>
                  <a:schemeClr val="tx1"/>
                </a:solidFill>
                <a:latin typeface="Century Gothic" pitchFamily="34" charset="0"/>
              </a:defRPr>
            </a:lvl1pPr>
          </a:lstStyle>
          <a:p>
            <a:r>
              <a:rPr lang="en-US" altLang="zh-TW" dirty="0"/>
              <a:t>Click to edit Master title style</a:t>
            </a:r>
            <a:endParaRPr lang="nl-NL" altLang="zh-TW" dirty="0"/>
          </a:p>
        </p:txBody>
      </p:sp>
      <p:sp>
        <p:nvSpPr>
          <p:cNvPr id="9" name="Content Placeholder 2"/>
          <p:cNvSpPr>
            <a:spLocks noGrp="1"/>
          </p:cNvSpPr>
          <p:nvPr userDrawn="1">
            <p:ph idx="1"/>
          </p:nvPr>
        </p:nvSpPr>
        <p:spPr>
          <a:xfrm>
            <a:off x="336551" y="1051793"/>
            <a:ext cx="11425767" cy="5453782"/>
          </a:xfrm>
          <a:prstGeom prst="rect">
            <a:avLst/>
          </a:prstGeom>
          <a:noFill/>
        </p:spPr>
        <p:txBody>
          <a:bodyPr/>
          <a:lstStyle>
            <a:lvl1pPr>
              <a:defRPr sz="2400">
                <a:solidFill>
                  <a:schemeClr val="tx1"/>
                </a:solidFill>
                <a:latin typeface="Century Gothic" pitchFamily="34" charset="0"/>
              </a:defRPr>
            </a:lvl1pPr>
            <a:lvl2pPr>
              <a:defRPr sz="2000">
                <a:solidFill>
                  <a:schemeClr val="tx1"/>
                </a:solidFill>
                <a:latin typeface="Century Gothic" pitchFamily="34" charset="0"/>
              </a:defRPr>
            </a:lvl2pPr>
            <a:lvl3pPr>
              <a:defRPr sz="1800">
                <a:solidFill>
                  <a:schemeClr val="tx1"/>
                </a:solidFill>
                <a:latin typeface="Century Gothic" pitchFamily="34" charset="0"/>
              </a:defRPr>
            </a:lvl3pPr>
            <a:lvl4pPr>
              <a:defRPr sz="1600">
                <a:solidFill>
                  <a:schemeClr val="tx1"/>
                </a:solidFill>
                <a:latin typeface="Century Gothic" pitchFamily="34" charset="0"/>
              </a:defRPr>
            </a:lvl4pPr>
            <a:lvl5pPr>
              <a:defRPr sz="1600">
                <a:solidFill>
                  <a:schemeClr val="tx1"/>
                </a:solidFill>
                <a:latin typeface="Century Gothic" pitchFamily="34" charset="0"/>
              </a:defRPr>
            </a:lvl5pPr>
          </a:lstStyle>
          <a:p>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nl-NL" altLang="zh-TW" dirty="0"/>
          </a:p>
        </p:txBody>
      </p:sp>
      <p:pic>
        <p:nvPicPr>
          <p:cNvPr id="17" name="Picture 2" descr="F:\MSI CIS\Guidelines\MSI Brand Guidelines_2013\MSI_CIS_Version_Chinese\_resources\MSI_logo_1.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42002" y="392333"/>
            <a:ext cx="1401415" cy="282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0478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44298F-423E-4C99-B816-92D207275927}" type="datetimeFigureOut">
              <a:rPr lang="zh-TW" altLang="en-US" smtClean="0"/>
              <a:pPr/>
              <a:t>2024/9/26</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E3E7A-0DF1-4640-BE24-7EEEAD063A54}" type="slidenum">
              <a:rPr lang="zh-TW" altLang="en-US" smtClean="0"/>
              <a:pPr/>
              <a:t>‹#›</a:t>
            </a:fld>
            <a:endParaRPr lang="zh-TW" altLang="en-US"/>
          </a:p>
        </p:txBody>
      </p:sp>
    </p:spTree>
    <p:extLst>
      <p:ext uri="{BB962C8B-B14F-4D97-AF65-F5344CB8AC3E}">
        <p14:creationId xmlns:p14="http://schemas.microsoft.com/office/powerpoint/2010/main" val="1340092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kernel.org/i2c/smbus-protocol.html" TargetMode="External"/><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nxp.com.cn/docs/en/user-guide/UM10204.pdf" TargetMode="External"/><Relationship Id="rId2" Type="http://schemas.openxmlformats.org/officeDocument/2006/relationships/hyperlink" Target="https://sumcu.suda.edu.cn/_upload/article/files/74/e5/d4eb93de45808d71ad8aad542ede/a3cb5873-aaf4-4af0-9e5f-521793fbba46.pdf"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grpSp>
        <p:nvGrpSpPr>
          <p:cNvPr id="62" name="Google Shape;62;p1"/>
          <p:cNvGrpSpPr/>
          <p:nvPr/>
        </p:nvGrpSpPr>
        <p:grpSpPr>
          <a:xfrm>
            <a:off x="-48" y="0"/>
            <a:ext cx="12191629" cy="6877981"/>
            <a:chOff x="1043608" y="0"/>
            <a:chExt cx="8100392" cy="5158486"/>
          </a:xfrm>
        </p:grpSpPr>
        <p:sp>
          <p:nvSpPr>
            <p:cNvPr id="63" name="Google Shape;63;p1"/>
            <p:cNvSpPr/>
            <p:nvPr/>
          </p:nvSpPr>
          <p:spPr>
            <a:xfrm>
              <a:off x="1043608" y="0"/>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4" name="Google Shape;64;p1"/>
            <p:cNvSpPr/>
            <p:nvPr/>
          </p:nvSpPr>
          <p:spPr>
            <a:xfrm>
              <a:off x="1043608" y="1203598"/>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5" name="Google Shape;65;p1"/>
            <p:cNvSpPr/>
            <p:nvPr/>
          </p:nvSpPr>
          <p:spPr>
            <a:xfrm>
              <a:off x="1043608" y="3024476"/>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6" name="Google Shape;66;p1"/>
            <p:cNvSpPr/>
            <p:nvPr/>
          </p:nvSpPr>
          <p:spPr>
            <a:xfrm>
              <a:off x="1043608" y="4235554"/>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7" name="Google Shape;67;p1"/>
            <p:cNvSpPr/>
            <p:nvPr/>
          </p:nvSpPr>
          <p:spPr>
            <a:xfrm>
              <a:off x="8892480" y="4906486"/>
              <a:ext cx="251520" cy="252000"/>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grpSp>
      <p:sp>
        <p:nvSpPr>
          <p:cNvPr id="68" name="Google Shape;68;p1"/>
          <p:cNvSpPr txBox="1">
            <a:spLocks noGrp="1"/>
          </p:cNvSpPr>
          <p:nvPr>
            <p:ph type="title"/>
          </p:nvPr>
        </p:nvSpPr>
        <p:spPr>
          <a:xfrm>
            <a:off x="701341" y="1988917"/>
            <a:ext cx="7584800" cy="2400000"/>
          </a:xfrm>
          <a:prstGeom prst="rect">
            <a:avLst/>
          </a:prstGeom>
          <a:noFill/>
          <a:ln>
            <a:noFill/>
          </a:ln>
        </p:spPr>
        <p:txBody>
          <a:bodyPr spcFirstLastPara="1" vert="horz" wrap="square" lIns="121900" tIns="60933" rIns="121900" bIns="60933" rtlCol="0" anchor="t" anchorCtr="0">
            <a:noAutofit/>
          </a:bodyPr>
          <a:lstStyle/>
          <a:p>
            <a:br>
              <a:rPr lang="en-US" sz="5333" dirty="0"/>
            </a:br>
            <a:r>
              <a:rPr lang="en-US" b="1" dirty="0">
                <a:solidFill>
                  <a:srgbClr val="000000"/>
                </a:solidFill>
                <a:effectLst/>
                <a:latin typeface="+mj-lt"/>
              </a:rPr>
              <a:t>Introduction to I2C Protocol</a:t>
            </a:r>
            <a:br>
              <a:rPr lang="en-US" sz="2000" b="0" dirty="0">
                <a:solidFill>
                  <a:srgbClr val="000000"/>
                </a:solidFill>
                <a:effectLst/>
                <a:latin typeface="Consolas" panose="020B0609020204030204" pitchFamily="49" charset="0"/>
              </a:rPr>
            </a:br>
            <a:endParaRPr sz="5333" dirty="0"/>
          </a:p>
        </p:txBody>
      </p:sp>
      <p:sp>
        <p:nvSpPr>
          <p:cNvPr id="69" name="Google Shape;69;p1"/>
          <p:cNvSpPr txBox="1">
            <a:spLocks noGrp="1"/>
          </p:cNvSpPr>
          <p:nvPr>
            <p:ph type="body" idx="1"/>
          </p:nvPr>
        </p:nvSpPr>
        <p:spPr>
          <a:xfrm>
            <a:off x="911424" y="4763192"/>
            <a:ext cx="2448272" cy="394000"/>
          </a:xfrm>
          <a:prstGeom prst="rect">
            <a:avLst/>
          </a:prstGeom>
          <a:noFill/>
          <a:ln>
            <a:noFill/>
          </a:ln>
        </p:spPr>
        <p:txBody>
          <a:bodyPr spcFirstLastPara="1" vert="horz" wrap="square" lIns="121900" tIns="60933" rIns="121900" bIns="60933" rtlCol="0" anchor="t" anchorCtr="0">
            <a:noAutofit/>
          </a:bodyPr>
          <a:lstStyle/>
          <a:p>
            <a:pPr marL="0" indent="0">
              <a:spcBef>
                <a:spcPts val="0"/>
              </a:spcBef>
            </a:pPr>
            <a:r>
              <a:rPr lang="en-US" dirty="0"/>
              <a:t>Jieliu  - jieliu@msi.com</a:t>
            </a:r>
            <a:endParaRPr dirty="0"/>
          </a:p>
        </p:txBody>
      </p:sp>
    </p:spTree>
    <p:extLst>
      <p:ext uri="{BB962C8B-B14F-4D97-AF65-F5344CB8AC3E}">
        <p14:creationId xmlns:p14="http://schemas.microsoft.com/office/powerpoint/2010/main" val="418644234"/>
      </p:ext>
    </p:extLst>
  </p:cSld>
  <p:clrMapOvr>
    <a:masterClrMapping/>
  </p:clrMapOvr>
  <mc:AlternateContent xmlns:mc="http://schemas.openxmlformats.org/markup-compatibility/2006">
    <mc:Choice xmlns:p14="http://schemas.microsoft.com/office/powerpoint/2010/main" Requires="p14">
      <p:transition spd="slow" p14:dur="2000" advTm="1126"/>
    </mc:Choice>
    <mc:Fallback>
      <p:transition spd="slow" advTm="11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EA669455-B9D4-F64D-90B0-2D8EEA10C264}"/>
              </a:ext>
            </a:extLst>
          </p:cNvPr>
          <p:cNvSpPr>
            <a:spLocks noGrp="1"/>
          </p:cNvSpPr>
          <p:nvPr>
            <p:ph type="title"/>
          </p:nvPr>
        </p:nvSpPr>
        <p:spPr/>
        <p:txBody>
          <a:bodyPr>
            <a:noAutofit/>
          </a:bodyPr>
          <a:lstStyle/>
          <a:p>
            <a:r>
              <a:rPr lang="en-US" altLang="zh-TW" sz="5400" b="1" dirty="0">
                <a:solidFill>
                  <a:srgbClr val="000000"/>
                </a:solidFill>
                <a:latin typeface="+mj-lt"/>
                <a:ea typeface="+mn-ea"/>
                <a:cs typeface="+mn-cs"/>
              </a:rPr>
              <a:t>Outline</a:t>
            </a:r>
            <a:endParaRPr lang="zh-TW" altLang="zh-TW" sz="5400" b="1" dirty="0">
              <a:solidFill>
                <a:srgbClr val="000000"/>
              </a:solidFill>
              <a:latin typeface="+mj-lt"/>
              <a:ea typeface="+mn-ea"/>
              <a:cs typeface="+mn-cs"/>
            </a:endParaRPr>
          </a:p>
        </p:txBody>
      </p:sp>
      <p:sp>
        <p:nvSpPr>
          <p:cNvPr id="6" name="TextBox 5">
            <a:extLst>
              <a:ext uri="{FF2B5EF4-FFF2-40B4-BE49-F238E27FC236}">
                <a16:creationId xmlns:a16="http://schemas.microsoft.com/office/drawing/2014/main" id="{E2BDFC0A-FF09-49E9-BFE0-B83727F2201B}"/>
              </a:ext>
            </a:extLst>
          </p:cNvPr>
          <p:cNvSpPr txBox="1"/>
          <p:nvPr/>
        </p:nvSpPr>
        <p:spPr>
          <a:xfrm>
            <a:off x="623392" y="980728"/>
            <a:ext cx="10297144" cy="5355312"/>
          </a:xfrm>
          <a:prstGeom prst="rect">
            <a:avLst/>
          </a:prstGeom>
          <a:noFill/>
        </p:spPr>
        <p:txBody>
          <a:bodyPr wrap="square" rtlCol="0">
            <a:spAutoFit/>
          </a:bodyPr>
          <a:lstStyle/>
          <a:p>
            <a:pPr marL="742950" indent="-742950">
              <a:lnSpc>
                <a:spcPct val="150000"/>
              </a:lnSpc>
              <a:buFont typeface="Arial" panose="020B0604020202020204" pitchFamily="34" charset="0"/>
              <a:buChar char="•"/>
            </a:pPr>
            <a:r>
              <a:rPr lang="en-US" sz="3600" b="0" dirty="0">
                <a:solidFill>
                  <a:srgbClr val="000000"/>
                </a:solidFill>
                <a:effectLst/>
                <a:latin typeface="Consolas" panose="020B0609020204030204" pitchFamily="49" charset="0"/>
              </a:rPr>
              <a:t>I2C Introduction</a:t>
            </a:r>
          </a:p>
          <a:p>
            <a:pPr marL="742950" indent="-742950">
              <a:lnSpc>
                <a:spcPct val="150000"/>
              </a:lnSpc>
              <a:buFont typeface="Arial" panose="020B0604020202020204" pitchFamily="34" charset="0"/>
              <a:buChar char="•"/>
            </a:pPr>
            <a:r>
              <a:rPr lang="en-US" sz="3600" b="0" dirty="0">
                <a:solidFill>
                  <a:srgbClr val="000000"/>
                </a:solidFill>
                <a:effectLst/>
                <a:latin typeface="Consolas" panose="020B0609020204030204" pitchFamily="49" charset="0"/>
              </a:rPr>
              <a:t>I2C Physical layer</a:t>
            </a:r>
          </a:p>
          <a:p>
            <a:pPr marL="742950" indent="-742950">
              <a:lnSpc>
                <a:spcPct val="150000"/>
              </a:lnSpc>
              <a:buFont typeface="Arial" panose="020B0604020202020204" pitchFamily="34" charset="0"/>
              <a:buChar char="•"/>
            </a:pPr>
            <a:r>
              <a:rPr lang="en-US" sz="3600" b="0" dirty="0">
                <a:solidFill>
                  <a:srgbClr val="000000"/>
                </a:solidFill>
                <a:effectLst/>
                <a:latin typeface="Consolas" panose="020B0609020204030204" pitchFamily="49" charset="0"/>
              </a:rPr>
              <a:t>I2C Protocol layer</a:t>
            </a:r>
          </a:p>
          <a:p>
            <a:pPr marL="742950" indent="-742950">
              <a:lnSpc>
                <a:spcPct val="150000"/>
              </a:lnSpc>
              <a:buFont typeface="Arial" panose="020B0604020202020204" pitchFamily="34" charset="0"/>
              <a:buChar char="•"/>
            </a:pPr>
            <a:r>
              <a:rPr lang="en-US" sz="3600" b="0" dirty="0">
                <a:solidFill>
                  <a:srgbClr val="000000"/>
                </a:solidFill>
                <a:effectLst/>
                <a:latin typeface="Consolas" panose="020B0609020204030204" pitchFamily="49" charset="0"/>
              </a:rPr>
              <a:t>I2C </a:t>
            </a:r>
            <a:r>
              <a:rPr lang="en-US" sz="3600" dirty="0">
                <a:solidFill>
                  <a:srgbClr val="000000"/>
                </a:solidFill>
                <a:latin typeface="Consolas" panose="020B0609020204030204" pitchFamily="49" charset="0"/>
              </a:rPr>
              <a:t>A</a:t>
            </a:r>
            <a:r>
              <a:rPr lang="en-US" sz="3600" b="0" dirty="0">
                <a:solidFill>
                  <a:srgbClr val="000000"/>
                </a:solidFill>
                <a:effectLst/>
                <a:latin typeface="Consolas" panose="020B0609020204030204" pitchFamily="49" charset="0"/>
              </a:rPr>
              <a:t>pplication</a:t>
            </a:r>
            <a:r>
              <a:rPr lang="zh-CN" altLang="en-US" sz="3600" b="0" dirty="0">
                <a:solidFill>
                  <a:srgbClr val="000000"/>
                </a:solidFill>
                <a:effectLst/>
                <a:latin typeface="Consolas" panose="020B0609020204030204" pitchFamily="49" charset="0"/>
              </a:rPr>
              <a:t>（</a:t>
            </a:r>
            <a:r>
              <a:rPr lang="en-US" sz="3600" dirty="0">
                <a:solidFill>
                  <a:srgbClr val="000000"/>
                </a:solidFill>
                <a:latin typeface="Consolas" panose="020B0609020204030204" pitchFamily="49" charset="0"/>
              </a:rPr>
              <a:t>I2C Subsystem</a:t>
            </a:r>
            <a:r>
              <a:rPr lang="zh-CN" altLang="en-US" sz="3600" b="0" dirty="0">
                <a:solidFill>
                  <a:srgbClr val="000000"/>
                </a:solidFill>
                <a:effectLst/>
                <a:latin typeface="Consolas" panose="020B0609020204030204" pitchFamily="49" charset="0"/>
              </a:rPr>
              <a:t>）</a:t>
            </a:r>
            <a:endParaRPr lang="en-US" sz="3600" b="0" dirty="0">
              <a:solidFill>
                <a:srgbClr val="000000"/>
              </a:solidFill>
              <a:effectLst/>
              <a:latin typeface="Consolas" panose="020B0609020204030204" pitchFamily="49" charset="0"/>
            </a:endParaRPr>
          </a:p>
          <a:p>
            <a:pPr marL="742950" indent="-742950">
              <a:lnSpc>
                <a:spcPct val="150000"/>
              </a:lnSpc>
              <a:buFont typeface="Arial" panose="020B0604020202020204" pitchFamily="34" charset="0"/>
              <a:buChar char="•"/>
            </a:pPr>
            <a:r>
              <a:rPr lang="en-US" sz="3600" dirty="0">
                <a:solidFill>
                  <a:srgbClr val="000000"/>
                </a:solidFill>
                <a:latin typeface="Consolas" panose="020B0609020204030204" pitchFamily="49" charset="0"/>
              </a:rPr>
              <a:t>I3C </a:t>
            </a:r>
            <a:r>
              <a:rPr lang="en-US" altLang="zh-CN" sz="3600" dirty="0">
                <a:solidFill>
                  <a:srgbClr val="000000"/>
                </a:solidFill>
                <a:latin typeface="Consolas" panose="020B0609020204030204" pitchFamily="49" charset="0"/>
              </a:rPr>
              <a:t>B</a:t>
            </a:r>
            <a:r>
              <a:rPr lang="en-US" sz="3600" dirty="0">
                <a:solidFill>
                  <a:srgbClr val="000000"/>
                </a:solidFill>
                <a:latin typeface="Consolas" panose="020B0609020204030204" pitchFamily="49" charset="0"/>
              </a:rPr>
              <a:t>rief introduction </a:t>
            </a:r>
          </a:p>
          <a:p>
            <a:pPr marL="742950" indent="-742950">
              <a:lnSpc>
                <a:spcPct val="150000"/>
              </a:lnSpc>
              <a:buFont typeface="Wingdings" panose="05000000000000000000" pitchFamily="2" charset="2"/>
              <a:buChar char="Ø"/>
            </a:pPr>
            <a:r>
              <a:rPr lang="en-US" sz="3600" b="0" dirty="0">
                <a:solidFill>
                  <a:srgbClr val="000000"/>
                </a:solidFill>
                <a:effectLst/>
                <a:latin typeface="Consolas" panose="020B0609020204030204" pitchFamily="49" charset="0"/>
              </a:rPr>
              <a:t>References</a:t>
            </a:r>
          </a:p>
          <a:p>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1612433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sz="3600" b="0" dirty="0">
                <a:solidFill>
                  <a:srgbClr val="000000"/>
                </a:solidFill>
                <a:effectLst/>
                <a:latin typeface="Consolas" panose="020B0609020204030204" pitchFamily="49" charset="0"/>
              </a:rPr>
              <a:t>I2C Introduction</a:t>
            </a:r>
            <a:endParaRPr lang="zh-TW" altLang="en-US" sz="3600" dirty="0">
              <a:latin typeface="微軟正黑體" pitchFamily="34" charset="-120"/>
            </a:endParaRPr>
          </a:p>
        </p:txBody>
      </p:sp>
      <p:sp>
        <p:nvSpPr>
          <p:cNvPr id="5" name="文字方塊 4">
            <a:extLst>
              <a:ext uri="{FF2B5EF4-FFF2-40B4-BE49-F238E27FC236}">
                <a16:creationId xmlns:a16="http://schemas.microsoft.com/office/drawing/2014/main" id="{79C3FF9A-F4A7-439F-853A-4DE71A2DD7CE}"/>
              </a:ext>
            </a:extLst>
          </p:cNvPr>
          <p:cNvSpPr txBox="1"/>
          <p:nvPr/>
        </p:nvSpPr>
        <p:spPr>
          <a:xfrm>
            <a:off x="551384" y="908720"/>
            <a:ext cx="11161240" cy="5450659"/>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I2C: Inter-Integrated Circuit</a:t>
            </a:r>
          </a:p>
          <a:p>
            <a:pPr marL="285750" indent="-285750" algn="l">
              <a:lnSpc>
                <a:spcPct val="150000"/>
              </a:lnSpc>
              <a:buFont typeface="Arial" panose="020B0604020202020204" pitchFamily="34" charset="0"/>
              <a:buChar char="•"/>
            </a:pPr>
            <a:r>
              <a:rPr lang="en-US" dirty="0">
                <a:solidFill>
                  <a:srgbClr val="FF0000"/>
                </a:solidFill>
              </a:rPr>
              <a:t>Philips Semiconductors </a:t>
            </a:r>
            <a:r>
              <a:rPr lang="en-US" dirty="0"/>
              <a:t>(now </a:t>
            </a:r>
            <a:r>
              <a:rPr lang="en-US" dirty="0">
                <a:solidFill>
                  <a:srgbClr val="FF0000"/>
                </a:solidFill>
              </a:rPr>
              <a:t>NXP Semiconductors</a:t>
            </a:r>
            <a:r>
              <a:rPr lang="en-US" dirty="0"/>
              <a:t>) developed a simple bidirectional 2-wire bus for efficient inter-IC control, called the Inter-IC or I2C-bus. </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A very commonly used </a:t>
            </a:r>
            <a:r>
              <a:rPr lang="en-US" b="0" i="0" dirty="0">
                <a:solidFill>
                  <a:srgbClr val="FF0000"/>
                </a:solidFill>
                <a:effectLst/>
                <a:latin typeface="Source Sans Pro" panose="020B0503030403020204" pitchFamily="34" charset="0"/>
              </a:rPr>
              <a:t>low-speed (100 ~ 400 kHz) bus</a:t>
            </a:r>
            <a:r>
              <a:rPr lang="en-US" b="0" i="0" dirty="0">
                <a:solidFill>
                  <a:srgbClr val="222222"/>
                </a:solidFill>
                <a:effectLst/>
                <a:latin typeface="Source Sans Pro" panose="020B0503030403020204" pitchFamily="34" charset="0"/>
              </a:rPr>
              <a:t> to connect on-board and external devices to the processor.</a:t>
            </a:r>
          </a:p>
          <a:p>
            <a:pPr marL="285750" indent="-285750" algn="l">
              <a:lnSpc>
                <a:spcPct val="150000"/>
              </a:lnSpc>
              <a:buFont typeface="Arial" panose="020B0604020202020204" pitchFamily="34" charset="0"/>
              <a:buChar char="•"/>
            </a:pPr>
            <a:r>
              <a:rPr lang="en-US" b="0" i="0" dirty="0">
                <a:solidFill>
                  <a:srgbClr val="FF0000"/>
                </a:solidFill>
                <a:effectLst/>
                <a:latin typeface="Source Sans Pro" panose="020B0503030403020204" pitchFamily="34" charset="0"/>
              </a:rPr>
              <a:t>Uses only two wires</a:t>
            </a:r>
            <a:r>
              <a:rPr lang="en-US" b="0" i="0" dirty="0">
                <a:solidFill>
                  <a:srgbClr val="222222"/>
                </a:solidFill>
                <a:effectLst/>
                <a:latin typeface="Source Sans Pro" panose="020B0503030403020204" pitchFamily="34" charset="0"/>
              </a:rPr>
              <a:t>: SDA for the data, SCL for the clock.</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Not discoverable, not plug-and-play.</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It is a </a:t>
            </a:r>
            <a:r>
              <a:rPr lang="en-US" b="0" i="0" dirty="0">
                <a:solidFill>
                  <a:srgbClr val="FF0000"/>
                </a:solidFill>
                <a:effectLst/>
                <a:latin typeface="Source Sans Pro" panose="020B0503030403020204" pitchFamily="34" charset="0"/>
              </a:rPr>
              <a:t>master/slave bus</a:t>
            </a:r>
            <a:r>
              <a:rPr lang="en-US" b="0" i="0" dirty="0">
                <a:solidFill>
                  <a:srgbClr val="222222"/>
                </a:solidFill>
                <a:effectLst/>
                <a:latin typeface="Source Sans Pro" panose="020B0503030403020204" pitchFamily="34" charset="0"/>
              </a:rPr>
              <a:t>: only the master can initiate transactions, and slaves can only reply to transactions initiated by masters.</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In a Linux system, the I2C controller embedded in the processor is typically the master, controlling the bus.</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Each slave device is </a:t>
            </a:r>
            <a:r>
              <a:rPr lang="en-US" b="0" i="0" dirty="0">
                <a:solidFill>
                  <a:srgbClr val="FF0000"/>
                </a:solidFill>
                <a:effectLst/>
                <a:latin typeface="Source Sans Pro" panose="020B0503030403020204" pitchFamily="34" charset="0"/>
              </a:rPr>
              <a:t>identified by an I2C address</a:t>
            </a:r>
            <a:r>
              <a:rPr lang="en-US" b="0" i="0" dirty="0">
                <a:solidFill>
                  <a:srgbClr val="222222"/>
                </a:solidFill>
                <a:effectLst/>
                <a:latin typeface="Source Sans Pro" panose="020B0503030403020204" pitchFamily="34" charset="0"/>
              </a:rPr>
              <a:t> (you can’t have 2 devices with the same address on the same bus). Each transaction initiated by the master contains this address, which allows the relevant slave to recognize that it should reply to this particular transaction.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sz="3600" b="0" dirty="0">
                <a:solidFill>
                  <a:srgbClr val="000000"/>
                </a:solidFill>
                <a:effectLst/>
                <a:latin typeface="Consolas" panose="020B0609020204030204" pitchFamily="49" charset="0"/>
              </a:rPr>
              <a:t>I2C Introduction</a:t>
            </a:r>
            <a:endParaRPr lang="en-US" altLang="zh-TW" sz="3600" dirty="0">
              <a:latin typeface="微軟正黑體" pitchFamily="34" charset="-120"/>
              <a:cs typeface="Tahoma" pitchFamily="34" charset="0"/>
            </a:endParaRPr>
          </a:p>
        </p:txBody>
      </p:sp>
      <p:sp>
        <p:nvSpPr>
          <p:cNvPr id="3" name="矩形 2"/>
          <p:cNvSpPr/>
          <p:nvPr/>
        </p:nvSpPr>
        <p:spPr>
          <a:xfrm>
            <a:off x="551384" y="860514"/>
            <a:ext cx="11377264" cy="5016758"/>
          </a:xfrm>
          <a:prstGeom prst="rect">
            <a:avLst/>
          </a:prstGeom>
        </p:spPr>
        <p:txBody>
          <a:bodyPr wrap="square">
            <a:spAutoFit/>
          </a:bodyPr>
          <a:lstStyle/>
          <a:p>
            <a:pPr algn="l">
              <a:lnSpc>
                <a:spcPct val="250000"/>
              </a:lnSpc>
            </a:pPr>
            <a:r>
              <a:rPr lang="zh-CN" altLang="en-US" sz="2000" b="1" i="0" dirty="0">
                <a:solidFill>
                  <a:srgbClr val="060607"/>
                </a:solidFill>
                <a:effectLst/>
                <a:latin typeface="-apple-system"/>
              </a:rPr>
              <a:t>优点：</a:t>
            </a:r>
            <a:endParaRPr lang="zh-CN" altLang="en-US" sz="2000" b="0" i="0" dirty="0">
              <a:solidFill>
                <a:srgbClr val="060607"/>
              </a:solidFill>
              <a:effectLst/>
              <a:latin typeface="-apple-system"/>
            </a:endParaRPr>
          </a:p>
          <a:p>
            <a:pPr marL="285750" indent="-285750" algn="l">
              <a:lnSpc>
                <a:spcPct val="250000"/>
              </a:lnSpc>
              <a:buFont typeface="Arial" panose="020B0604020202020204" pitchFamily="34" charset="0"/>
              <a:buChar char="•"/>
            </a:pPr>
            <a:r>
              <a:rPr lang="zh-CN" altLang="en-US" sz="2000" b="1" i="0" dirty="0">
                <a:solidFill>
                  <a:srgbClr val="FF0000"/>
                </a:solidFill>
                <a:effectLst/>
                <a:latin typeface="-apple-system"/>
              </a:rPr>
              <a:t>简单硬件接口</a:t>
            </a:r>
            <a:r>
              <a:rPr lang="zh-CN" altLang="en-US" sz="2000" b="0" i="0" dirty="0">
                <a:solidFill>
                  <a:srgbClr val="FF0000"/>
                </a:solidFill>
                <a:effectLst/>
                <a:latin typeface="-apple-system"/>
              </a:rPr>
              <a:t>：</a:t>
            </a:r>
            <a:r>
              <a:rPr lang="en-US" altLang="zh-CN" sz="2000" b="0" i="0" dirty="0">
                <a:effectLst/>
                <a:latin typeface="-apple-system"/>
              </a:rPr>
              <a:t>I2C</a:t>
            </a:r>
            <a:r>
              <a:rPr lang="zh-CN" altLang="en-US" sz="2000" b="0" i="0" dirty="0">
                <a:effectLst/>
                <a:latin typeface="-apple-system"/>
              </a:rPr>
              <a:t>只需要两根信号线（</a:t>
            </a:r>
            <a:r>
              <a:rPr lang="en-US" altLang="zh-CN" sz="2000" b="0" i="0" dirty="0">
                <a:effectLst/>
                <a:latin typeface="-apple-system"/>
              </a:rPr>
              <a:t>SDA</a:t>
            </a:r>
            <a:r>
              <a:rPr lang="zh-CN" altLang="en-US" sz="2000" b="0" i="0" dirty="0">
                <a:effectLst/>
                <a:latin typeface="-apple-system"/>
              </a:rPr>
              <a:t>和</a:t>
            </a:r>
            <a:r>
              <a:rPr lang="en-US" altLang="zh-CN" sz="2000" b="0" i="0" dirty="0">
                <a:effectLst/>
                <a:latin typeface="-apple-system"/>
              </a:rPr>
              <a:t>SCL</a:t>
            </a:r>
            <a:r>
              <a:rPr lang="zh-CN" altLang="en-US" sz="2000" b="0" i="0" dirty="0">
                <a:effectLst/>
                <a:latin typeface="-apple-system"/>
              </a:rPr>
              <a:t>），简化了硬件设计。</a:t>
            </a:r>
          </a:p>
          <a:p>
            <a:pPr marL="285750" indent="-285750" algn="l">
              <a:lnSpc>
                <a:spcPct val="250000"/>
              </a:lnSpc>
              <a:buFont typeface="Arial" panose="020B0604020202020204" pitchFamily="34" charset="0"/>
              <a:buChar char="•"/>
            </a:pPr>
            <a:r>
              <a:rPr lang="zh-CN" altLang="en-US" sz="2000" b="1" i="0" dirty="0">
                <a:solidFill>
                  <a:srgbClr val="FF0000"/>
                </a:solidFill>
                <a:effectLst/>
                <a:latin typeface="-apple-system"/>
              </a:rPr>
              <a:t>节省资源</a:t>
            </a:r>
            <a:r>
              <a:rPr lang="zh-CN" altLang="en-US" sz="2000" b="0" i="0" dirty="0">
                <a:solidFill>
                  <a:srgbClr val="FF0000"/>
                </a:solidFill>
                <a:effectLst/>
                <a:latin typeface="-apple-system"/>
              </a:rPr>
              <a:t>：</a:t>
            </a:r>
            <a:r>
              <a:rPr lang="zh-CN" altLang="en-US" sz="2000" b="0" i="0" dirty="0">
                <a:effectLst/>
                <a:latin typeface="-apple-system"/>
              </a:rPr>
              <a:t>由于只需要两根线，因此在</a:t>
            </a:r>
            <a:r>
              <a:rPr lang="en-US" altLang="zh-CN" sz="2000" b="0" i="0" dirty="0">
                <a:effectLst/>
                <a:latin typeface="-apple-system"/>
              </a:rPr>
              <a:t>PCB</a:t>
            </a:r>
            <a:r>
              <a:rPr lang="zh-CN" altLang="en-US" sz="2000" b="0" i="0" dirty="0">
                <a:effectLst/>
                <a:latin typeface="-apple-system"/>
              </a:rPr>
              <a:t>设计和布线上节省了空间和成本。</a:t>
            </a:r>
          </a:p>
          <a:p>
            <a:pPr algn="l">
              <a:lnSpc>
                <a:spcPct val="250000"/>
              </a:lnSpc>
            </a:pPr>
            <a:r>
              <a:rPr lang="zh-CN" altLang="en-US" sz="2000" b="1" i="0" dirty="0">
                <a:solidFill>
                  <a:srgbClr val="060607"/>
                </a:solidFill>
                <a:effectLst/>
                <a:latin typeface="-apple-system"/>
              </a:rPr>
              <a:t>缺点：</a:t>
            </a:r>
            <a:endParaRPr lang="zh-CN" altLang="en-US" sz="2000" b="0" i="0" dirty="0">
              <a:solidFill>
                <a:srgbClr val="060607"/>
              </a:solidFill>
              <a:effectLst/>
              <a:latin typeface="-apple-system"/>
            </a:endParaRPr>
          </a:p>
          <a:p>
            <a:pPr marL="285750" indent="-285750" algn="l">
              <a:lnSpc>
                <a:spcPct val="250000"/>
              </a:lnSpc>
              <a:buFont typeface="Arial" panose="020B0604020202020204" pitchFamily="34" charset="0"/>
              <a:buChar char="•"/>
            </a:pPr>
            <a:r>
              <a:rPr lang="zh-CN" altLang="en-US" sz="2000" b="1" i="0" dirty="0">
                <a:solidFill>
                  <a:srgbClr val="FF0000"/>
                </a:solidFill>
                <a:effectLst/>
                <a:latin typeface="-apple-system"/>
              </a:rPr>
              <a:t>传输速率较慢</a:t>
            </a:r>
            <a:r>
              <a:rPr lang="zh-CN" altLang="en-US" sz="2000" b="0" i="0" dirty="0">
                <a:solidFill>
                  <a:srgbClr val="FF0000"/>
                </a:solidFill>
                <a:effectLst/>
                <a:latin typeface="-apple-system"/>
              </a:rPr>
              <a:t>：</a:t>
            </a:r>
            <a:r>
              <a:rPr lang="zh-CN" altLang="en-US" sz="2000" b="0" i="0" dirty="0">
                <a:effectLst/>
                <a:latin typeface="-apple-system"/>
              </a:rPr>
              <a:t>与</a:t>
            </a:r>
            <a:r>
              <a:rPr lang="en-US" altLang="zh-CN" sz="2000" b="0" i="0" dirty="0">
                <a:effectLst/>
                <a:latin typeface="-apple-system"/>
              </a:rPr>
              <a:t>SPI</a:t>
            </a:r>
            <a:r>
              <a:rPr lang="zh-CN" altLang="en-US" sz="2000" b="0" i="0" dirty="0">
                <a:effectLst/>
                <a:latin typeface="-apple-system"/>
              </a:rPr>
              <a:t>等其他通信协议相比，</a:t>
            </a:r>
            <a:r>
              <a:rPr lang="en-US" altLang="zh-CN" sz="2000" b="0" i="0" dirty="0">
                <a:effectLst/>
                <a:latin typeface="-apple-system"/>
              </a:rPr>
              <a:t>I2C</a:t>
            </a:r>
            <a:r>
              <a:rPr lang="zh-CN" altLang="en-US" sz="2000" b="0" i="0" dirty="0">
                <a:effectLst/>
                <a:latin typeface="-apple-system"/>
              </a:rPr>
              <a:t>的通信速率较低，不适合高速数据传输。</a:t>
            </a:r>
          </a:p>
          <a:p>
            <a:pPr marL="285750" indent="-285750" algn="l">
              <a:lnSpc>
                <a:spcPct val="250000"/>
              </a:lnSpc>
              <a:buFont typeface="Arial" panose="020B0604020202020204" pitchFamily="34" charset="0"/>
              <a:buChar char="•"/>
            </a:pPr>
            <a:r>
              <a:rPr lang="zh-CN" altLang="en-US" sz="2000" b="1" i="0" dirty="0">
                <a:solidFill>
                  <a:srgbClr val="FF0000"/>
                </a:solidFill>
                <a:effectLst/>
                <a:latin typeface="-apple-system"/>
              </a:rPr>
              <a:t>总线冲突</a:t>
            </a:r>
            <a:r>
              <a:rPr lang="zh-CN" altLang="en-US" sz="2000" b="0" i="0" dirty="0">
                <a:solidFill>
                  <a:srgbClr val="FF0000"/>
                </a:solidFill>
                <a:effectLst/>
                <a:latin typeface="-apple-system"/>
              </a:rPr>
              <a:t>：</a:t>
            </a:r>
            <a:r>
              <a:rPr lang="zh-CN" altLang="en-US" sz="2000" b="0" i="0" dirty="0">
                <a:effectLst/>
                <a:latin typeface="-apple-system"/>
              </a:rPr>
              <a:t>当多个设备尝试同时发送数据时，可能会发生冲突，需要额外的冲突检测和处理机制。</a:t>
            </a:r>
          </a:p>
          <a:p>
            <a:endParaRPr lang="en-US" altLang="zh-TW" sz="2000" dirty="0">
              <a:latin typeface="微軟正黑體" pitchFamily="34" charset="-120"/>
              <a:ea typeface="微軟正黑體" pitchFamily="34" charset="-120"/>
              <a:cs typeface="Tahoma"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41575C-CA13-4CB8-BE38-598A40A64164}"/>
              </a:ext>
            </a:extLst>
          </p:cNvPr>
          <p:cNvSpPr>
            <a:spLocks noGrp="1"/>
          </p:cNvSpPr>
          <p:nvPr>
            <p:ph type="title"/>
          </p:nvPr>
        </p:nvSpPr>
        <p:spPr>
          <a:xfrm>
            <a:off x="479376" y="212453"/>
            <a:ext cx="9000000" cy="540000"/>
          </a:xfrm>
        </p:spPr>
        <p:txBody>
          <a:bodyPr/>
          <a:lstStyle/>
          <a:p>
            <a:pPr marR="0" lvl="0" algn="l" defTabSz="914400" rtl="0" eaLnBrk="1" fontAlgn="auto" latinLnBrk="0" hangingPunct="1">
              <a:lnSpc>
                <a:spcPct val="100000"/>
              </a:lnSpc>
              <a:spcBef>
                <a:spcPts val="0"/>
              </a:spcBef>
              <a:spcAft>
                <a:spcPts val="0"/>
              </a:spcAft>
              <a:buClrTx/>
              <a:buSzTx/>
              <a:tabLst/>
              <a:defRPr/>
            </a:pPr>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I</a:t>
            </a:r>
            <a:r>
              <a:rPr kumimoji="0" lang="en-US" sz="3600" b="0" i="0" u="none" strike="noStrike" kern="1200" cap="none" spc="0" normalizeH="0" noProof="0" dirty="0">
                <a:ln>
                  <a:noFill/>
                </a:ln>
                <a:solidFill>
                  <a:srgbClr val="000000"/>
                </a:solidFill>
                <a:effectLst/>
                <a:uLnTx/>
                <a:uFillTx/>
                <a:latin typeface="Consolas" panose="020B0609020204030204" pitchFamily="49" charset="0"/>
                <a:ea typeface="+mn-ea"/>
                <a:cs typeface="+mn-cs"/>
              </a:rPr>
              <a:t>2</a:t>
            </a:r>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 Physical layer</a:t>
            </a:r>
          </a:p>
        </p:txBody>
      </p:sp>
      <p:pic>
        <p:nvPicPr>
          <p:cNvPr id="6" name="圖片 5">
            <a:extLst>
              <a:ext uri="{FF2B5EF4-FFF2-40B4-BE49-F238E27FC236}">
                <a16:creationId xmlns:a16="http://schemas.microsoft.com/office/drawing/2014/main" id="{689BFC15-B195-4F4E-A4C3-D9C464A6DF61}"/>
              </a:ext>
            </a:extLst>
          </p:cNvPr>
          <p:cNvPicPr>
            <a:picLocks noChangeAspect="1"/>
          </p:cNvPicPr>
          <p:nvPr/>
        </p:nvPicPr>
        <p:blipFill rotWithShape="1">
          <a:blip r:embed="rId2"/>
          <a:srcRect b="7428"/>
          <a:stretch/>
        </p:blipFill>
        <p:spPr>
          <a:xfrm>
            <a:off x="1271464" y="764704"/>
            <a:ext cx="8602275" cy="5256584"/>
          </a:xfrm>
          <a:prstGeom prst="rect">
            <a:avLst/>
          </a:prstGeom>
          <a:ln>
            <a:solidFill>
              <a:schemeClr val="tx1"/>
            </a:solidFill>
          </a:ln>
        </p:spPr>
      </p:pic>
      <p:sp>
        <p:nvSpPr>
          <p:cNvPr id="3" name="文字方塊 2">
            <a:extLst>
              <a:ext uri="{FF2B5EF4-FFF2-40B4-BE49-F238E27FC236}">
                <a16:creationId xmlns:a16="http://schemas.microsoft.com/office/drawing/2014/main" id="{9F666408-0514-4DE9-8004-7197F3B0DED0}"/>
              </a:ext>
            </a:extLst>
          </p:cNvPr>
          <p:cNvSpPr txBox="1"/>
          <p:nvPr/>
        </p:nvSpPr>
        <p:spPr>
          <a:xfrm>
            <a:off x="1199456" y="6237312"/>
            <a:ext cx="8712968" cy="369332"/>
          </a:xfrm>
          <a:prstGeom prst="rect">
            <a:avLst/>
          </a:prstGeom>
          <a:noFill/>
        </p:spPr>
        <p:txBody>
          <a:bodyPr wrap="square" rtlCol="0">
            <a:spAutoFit/>
          </a:bodyPr>
          <a:lstStyle/>
          <a:p>
            <a:r>
              <a:rPr lang="zh-CN" altLang="en-US" dirty="0">
                <a:solidFill>
                  <a:srgbClr val="FF0000"/>
                </a:solidFill>
              </a:rPr>
              <a:t>注意：上图中的 </a:t>
            </a:r>
            <a:r>
              <a:rPr lang="en-US" altLang="zh-CN" dirty="0">
                <a:solidFill>
                  <a:srgbClr val="FF0000"/>
                </a:solidFill>
              </a:rPr>
              <a:t>I</a:t>
            </a:r>
            <a:r>
              <a:rPr lang="en-US" altLang="zh-CN" baseline="30000" dirty="0">
                <a:solidFill>
                  <a:srgbClr val="FF0000"/>
                </a:solidFill>
              </a:rPr>
              <a:t>2</a:t>
            </a:r>
            <a:r>
              <a:rPr lang="en-US" altLang="zh-CN" dirty="0">
                <a:solidFill>
                  <a:srgbClr val="FF0000"/>
                </a:solidFill>
              </a:rPr>
              <a:t>C </a:t>
            </a:r>
            <a:r>
              <a:rPr lang="zh-CN" altLang="en-US" dirty="0">
                <a:solidFill>
                  <a:srgbClr val="FF0000"/>
                </a:solidFill>
              </a:rPr>
              <a:t>与本文所介绍</a:t>
            </a:r>
            <a:r>
              <a:rPr lang="en-US" altLang="zh-CN" dirty="0">
                <a:solidFill>
                  <a:srgbClr val="FF0000"/>
                </a:solidFill>
              </a:rPr>
              <a:t>I2C</a:t>
            </a:r>
            <a:r>
              <a:rPr lang="zh-CN" altLang="en-US" dirty="0">
                <a:solidFill>
                  <a:srgbClr val="FF0000"/>
                </a:solidFill>
              </a:rPr>
              <a:t>均是代指 </a:t>
            </a:r>
            <a:r>
              <a:rPr lang="en-US" altLang="zh-CN" dirty="0">
                <a:solidFill>
                  <a:srgbClr val="FF0000"/>
                </a:solidFill>
              </a:rPr>
              <a:t>IIC(</a:t>
            </a:r>
            <a:r>
              <a:rPr lang="en-US" b="0" i="0" dirty="0">
                <a:solidFill>
                  <a:srgbClr val="FF0000"/>
                </a:solidFill>
                <a:effectLst/>
                <a:latin typeface="Source Sans Pro" panose="020B0503030403020204" pitchFamily="34" charset="0"/>
              </a:rPr>
              <a:t>Inter-Integrated Circuit</a:t>
            </a:r>
            <a:r>
              <a:rPr lang="en-US" altLang="zh-CN" dirty="0">
                <a:solidFill>
                  <a:srgbClr val="FF0000"/>
                </a:solidFill>
              </a:rPr>
              <a:t>)</a:t>
            </a:r>
            <a:r>
              <a:rPr lang="zh-CN" altLang="en-US" dirty="0">
                <a:solidFill>
                  <a:srgbClr val="FF0000"/>
                </a:solidFill>
              </a:rPr>
              <a:t>，后文同理。</a:t>
            </a:r>
            <a:endParaRPr lang="en-US" dirty="0">
              <a:solidFill>
                <a:srgbClr val="FF0000"/>
              </a:solidFill>
            </a:endParaRPr>
          </a:p>
        </p:txBody>
      </p:sp>
    </p:spTree>
    <p:extLst>
      <p:ext uri="{BB962C8B-B14F-4D97-AF65-F5344CB8AC3E}">
        <p14:creationId xmlns:p14="http://schemas.microsoft.com/office/powerpoint/2010/main" val="427599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41575C-CA13-4CB8-BE38-598A40A64164}"/>
              </a:ext>
            </a:extLst>
          </p:cNvPr>
          <p:cNvSpPr>
            <a:spLocks noGrp="1"/>
          </p:cNvSpPr>
          <p:nvPr>
            <p:ph type="title"/>
          </p:nvPr>
        </p:nvSpPr>
        <p:spPr/>
        <p:txBody>
          <a:bodyPr/>
          <a:lstStyle/>
          <a:p>
            <a:pPr marR="0" lvl="0" algn="l" defTabSz="914400" rtl="0" eaLnBrk="1" fontAlgn="auto" latinLnBrk="0" hangingPunct="1">
              <a:lnSpc>
                <a:spcPct val="100000"/>
              </a:lnSpc>
              <a:spcBef>
                <a:spcPts val="0"/>
              </a:spcBef>
              <a:spcAft>
                <a:spcPts val="0"/>
              </a:spcAft>
              <a:buClrTx/>
              <a:buSzTx/>
              <a:tabLst/>
              <a:defRPr/>
            </a:pPr>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I</a:t>
            </a:r>
            <a:r>
              <a:rPr kumimoji="0" lang="en-US" sz="3600" b="0" i="0" u="none" strike="noStrike" kern="1200" cap="none" spc="0" normalizeH="0" baseline="30000" noProof="0" dirty="0">
                <a:ln>
                  <a:noFill/>
                </a:ln>
                <a:solidFill>
                  <a:srgbClr val="000000"/>
                </a:solidFill>
                <a:effectLst/>
                <a:uLnTx/>
                <a:uFillTx/>
                <a:latin typeface="Consolas" panose="020B0609020204030204" pitchFamily="49" charset="0"/>
                <a:ea typeface="+mn-ea"/>
                <a:cs typeface="+mn-cs"/>
              </a:rPr>
              <a:t>2</a:t>
            </a:r>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 Physical layer</a:t>
            </a:r>
          </a:p>
        </p:txBody>
      </p:sp>
      <p:pic>
        <p:nvPicPr>
          <p:cNvPr id="4" name="圖片 3">
            <a:extLst>
              <a:ext uri="{FF2B5EF4-FFF2-40B4-BE49-F238E27FC236}">
                <a16:creationId xmlns:a16="http://schemas.microsoft.com/office/drawing/2014/main" id="{D1E34949-00CF-4AAF-AFF6-9D20436351EB}"/>
              </a:ext>
            </a:extLst>
          </p:cNvPr>
          <p:cNvPicPr>
            <a:picLocks noChangeAspect="1"/>
          </p:cNvPicPr>
          <p:nvPr/>
        </p:nvPicPr>
        <p:blipFill>
          <a:blip r:embed="rId2"/>
          <a:stretch>
            <a:fillRect/>
          </a:stretch>
        </p:blipFill>
        <p:spPr>
          <a:xfrm>
            <a:off x="413545" y="1700808"/>
            <a:ext cx="6474543" cy="3196568"/>
          </a:xfrm>
          <a:prstGeom prst="rect">
            <a:avLst/>
          </a:prstGeom>
          <a:ln>
            <a:solidFill>
              <a:schemeClr val="bg1"/>
            </a:solidFill>
          </a:ln>
        </p:spPr>
      </p:pic>
      <p:sp>
        <p:nvSpPr>
          <p:cNvPr id="7" name="文字方塊 6">
            <a:extLst>
              <a:ext uri="{FF2B5EF4-FFF2-40B4-BE49-F238E27FC236}">
                <a16:creationId xmlns:a16="http://schemas.microsoft.com/office/drawing/2014/main" id="{D20E7A5F-4608-4DC9-81D1-CCA2E73C0E20}"/>
              </a:ext>
            </a:extLst>
          </p:cNvPr>
          <p:cNvSpPr txBox="1"/>
          <p:nvPr/>
        </p:nvSpPr>
        <p:spPr>
          <a:xfrm>
            <a:off x="6672064" y="1340768"/>
            <a:ext cx="5184576" cy="37894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solidFill>
                  <a:srgbClr val="060607"/>
                </a:solidFill>
                <a:latin typeface="-apple-system"/>
              </a:rPr>
              <a:t>two wires: </a:t>
            </a:r>
            <a:r>
              <a:rPr lang="en-US" b="0" i="0" dirty="0">
                <a:solidFill>
                  <a:srgbClr val="222222"/>
                </a:solidFill>
                <a:effectLst/>
                <a:latin typeface="Source Sans Pro" panose="020B0503030403020204" pitchFamily="34" charset="0"/>
              </a:rPr>
              <a:t>SDA for the data, SCL for the clock</a:t>
            </a:r>
          </a:p>
          <a:p>
            <a:pPr marL="285750" indent="-285750">
              <a:lnSpc>
                <a:spcPct val="150000"/>
              </a:lnSpc>
              <a:buFont typeface="Arial" panose="020B0604020202020204" pitchFamily="34" charset="0"/>
              <a:buChar char="•"/>
            </a:pPr>
            <a:r>
              <a:rPr lang="zh-CN" altLang="en-US" b="1" dirty="0">
                <a:solidFill>
                  <a:srgbClr val="222222"/>
                </a:solidFill>
                <a:latin typeface="Source Sans Pro" panose="020B0503030403020204" pitchFamily="34" charset="0"/>
              </a:rPr>
              <a:t>开漏输出</a:t>
            </a:r>
            <a:r>
              <a:rPr lang="zh-CN" altLang="en-US" dirty="0">
                <a:solidFill>
                  <a:srgbClr val="222222"/>
                </a:solidFill>
                <a:latin typeface="Source Sans Pro" panose="020B0503030403020204" pitchFamily="34" charset="0"/>
              </a:rPr>
              <a:t>（</a:t>
            </a:r>
            <a:r>
              <a:rPr lang="en-US" dirty="0">
                <a:solidFill>
                  <a:srgbClr val="222222"/>
                </a:solidFill>
                <a:latin typeface="Source Sans Pro" panose="020B0503030403020204" pitchFamily="34" charset="0"/>
              </a:rPr>
              <a:t>Open Drain/Collector）:</a:t>
            </a:r>
            <a:r>
              <a:rPr lang="zh-CN" altLang="en-US" dirty="0">
                <a:solidFill>
                  <a:srgbClr val="222222"/>
                </a:solidFill>
                <a:latin typeface="Source Sans Pro" panose="020B0503030403020204" pitchFamily="34" charset="0"/>
              </a:rPr>
              <a:t>实现线与，多设备了连接避免信号冲突。</a:t>
            </a:r>
            <a:endParaRPr lang="en-US" dirty="0">
              <a:solidFill>
                <a:srgbClr val="222222"/>
              </a:solidFill>
              <a:latin typeface="Source Sans Pro" panose="020B0503030403020204" pitchFamily="34" charset="0"/>
            </a:endParaRPr>
          </a:p>
          <a:p>
            <a:pPr marL="285750" indent="-285750">
              <a:lnSpc>
                <a:spcPct val="150000"/>
              </a:lnSpc>
              <a:buFont typeface="Arial" panose="020B0604020202020204" pitchFamily="34" charset="0"/>
              <a:buChar char="•"/>
            </a:pPr>
            <a:r>
              <a:rPr lang="zh-CN" altLang="en-US" b="1" dirty="0">
                <a:solidFill>
                  <a:srgbClr val="222222"/>
                </a:solidFill>
                <a:latin typeface="Source Sans Pro" panose="020B0503030403020204" pitchFamily="34" charset="0"/>
              </a:rPr>
              <a:t>上拉电阻</a:t>
            </a:r>
            <a:r>
              <a:rPr lang="en-US" altLang="zh-CN" dirty="0">
                <a:solidFill>
                  <a:srgbClr val="222222"/>
                </a:solidFill>
                <a:latin typeface="Source Sans Pro" panose="020B0503030403020204" pitchFamily="34" charset="0"/>
              </a:rPr>
              <a:t>:</a:t>
            </a:r>
            <a:r>
              <a:rPr lang="zh-CN" altLang="en-US" b="0" i="0" dirty="0">
                <a:solidFill>
                  <a:srgbClr val="060607"/>
                </a:solidFill>
                <a:effectLst/>
                <a:latin typeface="-apple-system"/>
              </a:rPr>
              <a:t>为了确保信号线在空闲时保持高电平，</a:t>
            </a:r>
            <a:r>
              <a:rPr lang="en-US" altLang="zh-CN" b="0" i="0" dirty="0">
                <a:solidFill>
                  <a:srgbClr val="060607"/>
                </a:solidFill>
                <a:effectLst/>
                <a:latin typeface="-apple-system"/>
              </a:rPr>
              <a:t>SDA</a:t>
            </a:r>
            <a:r>
              <a:rPr lang="zh-CN" altLang="en-US" b="0" i="0" dirty="0">
                <a:solidFill>
                  <a:srgbClr val="060607"/>
                </a:solidFill>
                <a:effectLst/>
                <a:latin typeface="-apple-system"/>
              </a:rPr>
              <a:t>和</a:t>
            </a:r>
            <a:r>
              <a:rPr lang="en-US" altLang="zh-CN" b="0" i="0" dirty="0">
                <a:solidFill>
                  <a:srgbClr val="060607"/>
                </a:solidFill>
                <a:effectLst/>
                <a:latin typeface="-apple-system"/>
              </a:rPr>
              <a:t>SCL</a:t>
            </a:r>
            <a:r>
              <a:rPr lang="zh-CN" altLang="en-US" b="0" i="0" dirty="0">
                <a:solidFill>
                  <a:srgbClr val="060607"/>
                </a:solidFill>
                <a:effectLst/>
                <a:latin typeface="-apple-system"/>
              </a:rPr>
              <a:t>线上都需要连接外部上拉电阻到正电源</a:t>
            </a:r>
            <a:r>
              <a:rPr lang="en-US" altLang="zh-CN" b="0" i="0" dirty="0">
                <a:solidFill>
                  <a:srgbClr val="060607"/>
                </a:solidFill>
                <a:effectLst/>
                <a:latin typeface="-apple-system"/>
              </a:rPr>
              <a:t>VDD</a:t>
            </a:r>
            <a:r>
              <a:rPr lang="zh-CN" altLang="en-US" dirty="0">
                <a:solidFill>
                  <a:srgbClr val="060607"/>
                </a:solidFill>
                <a:latin typeface="-apple-system"/>
              </a:rPr>
              <a:t>，实现高电平的驱动。</a:t>
            </a:r>
            <a:endParaRPr lang="en-US" altLang="zh-CN" dirty="0">
              <a:solidFill>
                <a:srgbClr val="060607"/>
              </a:solidFill>
              <a:latin typeface="-apple-system"/>
            </a:endParaRPr>
          </a:p>
          <a:p>
            <a:pPr marL="285750" indent="-285750" algn="l">
              <a:lnSpc>
                <a:spcPct val="150000"/>
              </a:lnSpc>
              <a:buFont typeface="Arial" panose="020B0604020202020204" pitchFamily="34" charset="0"/>
              <a:buChar char="•"/>
            </a:pPr>
            <a:r>
              <a:rPr lang="zh-CN" altLang="en-US" b="1" i="0" dirty="0">
                <a:solidFill>
                  <a:srgbClr val="060607"/>
                </a:solidFill>
                <a:effectLst/>
                <a:latin typeface="-apple-system"/>
              </a:rPr>
              <a:t>电压电平</a:t>
            </a:r>
            <a:r>
              <a:rPr lang="zh-CN" altLang="en-US" b="0" i="0" dirty="0">
                <a:solidFill>
                  <a:srgbClr val="060607"/>
                </a:solidFill>
                <a:effectLst/>
                <a:latin typeface="-apple-system"/>
              </a:rPr>
              <a:t>：</a:t>
            </a:r>
            <a:r>
              <a:rPr lang="en-US" altLang="zh-CN" b="0" i="0" dirty="0">
                <a:solidFill>
                  <a:srgbClr val="060607"/>
                </a:solidFill>
                <a:effectLst/>
                <a:latin typeface="-apple-system"/>
              </a:rPr>
              <a:t>I</a:t>
            </a:r>
            <a:r>
              <a:rPr lang="en-US" altLang="zh-CN" b="0" i="0" baseline="30000" dirty="0">
                <a:solidFill>
                  <a:srgbClr val="060607"/>
                </a:solidFill>
                <a:effectLst/>
                <a:latin typeface="-apple-system"/>
              </a:rPr>
              <a:t>2</a:t>
            </a:r>
            <a:r>
              <a:rPr lang="en-US" altLang="zh-CN" b="0" i="0" dirty="0">
                <a:solidFill>
                  <a:srgbClr val="060607"/>
                </a:solidFill>
                <a:effectLst/>
                <a:latin typeface="-apple-system"/>
              </a:rPr>
              <a:t>C</a:t>
            </a:r>
            <a:r>
              <a:rPr lang="zh-CN" altLang="en-US" b="0" i="0" dirty="0">
                <a:solidFill>
                  <a:srgbClr val="060607"/>
                </a:solidFill>
                <a:effectLst/>
                <a:latin typeface="-apple-system"/>
              </a:rPr>
              <a:t>总线的逻辑电平与供电电压</a:t>
            </a:r>
            <a:r>
              <a:rPr lang="en-US" altLang="zh-CN" b="0" i="0" dirty="0">
                <a:solidFill>
                  <a:srgbClr val="060607"/>
                </a:solidFill>
                <a:effectLst/>
                <a:latin typeface="-apple-system"/>
              </a:rPr>
              <a:t>VDD</a:t>
            </a:r>
            <a:r>
              <a:rPr lang="zh-CN" altLang="en-US" b="0" i="0" dirty="0">
                <a:solidFill>
                  <a:srgbClr val="060607"/>
                </a:solidFill>
                <a:effectLst/>
                <a:latin typeface="-apple-system"/>
              </a:rPr>
              <a:t>有关，通常定义为</a:t>
            </a:r>
            <a:r>
              <a:rPr lang="en-US" altLang="zh-CN" b="0" i="0" dirty="0">
                <a:solidFill>
                  <a:srgbClr val="060607"/>
                </a:solidFill>
                <a:effectLst/>
                <a:latin typeface="-apple-system"/>
              </a:rPr>
              <a:t>VDD</a:t>
            </a:r>
            <a:r>
              <a:rPr lang="zh-CN" altLang="en-US" b="0" i="0" dirty="0">
                <a:solidFill>
                  <a:srgbClr val="060607"/>
                </a:solidFill>
                <a:effectLst/>
                <a:latin typeface="-apple-system"/>
              </a:rPr>
              <a:t>的</a:t>
            </a:r>
            <a:r>
              <a:rPr lang="en-US" altLang="zh-CN" b="0" i="0" dirty="0">
                <a:solidFill>
                  <a:srgbClr val="060607"/>
                </a:solidFill>
                <a:effectLst/>
                <a:latin typeface="-apple-system"/>
              </a:rPr>
              <a:t>30%</a:t>
            </a:r>
            <a:r>
              <a:rPr lang="zh-CN" altLang="en-US" b="0" i="0" dirty="0">
                <a:solidFill>
                  <a:srgbClr val="060607"/>
                </a:solidFill>
                <a:effectLst/>
                <a:latin typeface="-apple-system"/>
              </a:rPr>
              <a:t>和</a:t>
            </a:r>
            <a:r>
              <a:rPr lang="en-US" altLang="zh-CN" b="0" i="0" dirty="0">
                <a:solidFill>
                  <a:srgbClr val="060607"/>
                </a:solidFill>
                <a:effectLst/>
                <a:latin typeface="-apple-system"/>
              </a:rPr>
              <a:t>70%</a:t>
            </a:r>
            <a:r>
              <a:rPr lang="zh-CN" altLang="en-US" b="0" i="0" dirty="0">
                <a:solidFill>
                  <a:srgbClr val="060607"/>
                </a:solidFill>
                <a:effectLst/>
                <a:latin typeface="-apple-system"/>
              </a:rPr>
              <a:t>作为逻辑“</a:t>
            </a:r>
            <a:r>
              <a:rPr lang="en-US" altLang="zh-CN" b="0" i="0" dirty="0">
                <a:solidFill>
                  <a:srgbClr val="060607"/>
                </a:solidFill>
                <a:effectLst/>
                <a:latin typeface="-apple-system"/>
              </a:rPr>
              <a:t>0”</a:t>
            </a:r>
            <a:r>
              <a:rPr lang="zh-CN" altLang="en-US" b="0" i="0" dirty="0">
                <a:solidFill>
                  <a:srgbClr val="060607"/>
                </a:solidFill>
                <a:effectLst/>
                <a:latin typeface="-apple-system"/>
              </a:rPr>
              <a:t>和逻辑“</a:t>
            </a:r>
            <a:r>
              <a:rPr lang="en-US" altLang="zh-CN" b="0" i="0" dirty="0">
                <a:solidFill>
                  <a:srgbClr val="060607"/>
                </a:solidFill>
                <a:effectLst/>
                <a:latin typeface="-apple-system"/>
              </a:rPr>
              <a:t>1”</a:t>
            </a:r>
            <a:r>
              <a:rPr lang="zh-CN" altLang="en-US" b="0" i="0" dirty="0">
                <a:solidFill>
                  <a:srgbClr val="060607"/>
                </a:solidFill>
                <a:effectLst/>
                <a:latin typeface="-apple-system"/>
              </a:rPr>
              <a:t>的阈值。</a:t>
            </a:r>
            <a:endParaRPr lang="en-US" dirty="0"/>
          </a:p>
        </p:txBody>
      </p:sp>
    </p:spTree>
    <p:extLst>
      <p:ext uri="{BB962C8B-B14F-4D97-AF65-F5344CB8AC3E}">
        <p14:creationId xmlns:p14="http://schemas.microsoft.com/office/powerpoint/2010/main" val="231008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6D068D-B389-4793-B24D-645BBDC1B1AF}"/>
              </a:ext>
            </a:extLst>
          </p:cNvPr>
          <p:cNvSpPr>
            <a:spLocks noGrp="1"/>
          </p:cNvSpPr>
          <p:nvPr>
            <p:ph type="title"/>
          </p:nvPr>
        </p:nvSpPr>
        <p:spPr/>
        <p:txBody>
          <a:bodyPr/>
          <a:lstStyle/>
          <a:p>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微軟正黑體" panose="020B0604030504040204" pitchFamily="34" charset="-120"/>
                <a:cs typeface="+mj-cs"/>
              </a:rPr>
              <a:t>I</a:t>
            </a:r>
            <a:r>
              <a:rPr kumimoji="0" lang="en-US" sz="3600" b="0" i="0" u="none" strike="noStrike" kern="1200" cap="none" spc="0" normalizeH="0" noProof="0" dirty="0">
                <a:ln>
                  <a:noFill/>
                </a:ln>
                <a:solidFill>
                  <a:srgbClr val="000000"/>
                </a:solidFill>
                <a:effectLst/>
                <a:uLnTx/>
                <a:uFillTx/>
                <a:latin typeface="Consolas" panose="020B0609020204030204" pitchFamily="49" charset="0"/>
                <a:ea typeface="微軟正黑體" panose="020B0604030504040204" pitchFamily="34" charset="-120"/>
                <a:cs typeface="+mj-cs"/>
              </a:rPr>
              <a:t>2</a:t>
            </a:r>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微軟正黑體" panose="020B0604030504040204" pitchFamily="34" charset="-120"/>
                <a:cs typeface="+mj-cs"/>
              </a:rPr>
              <a:t>C Protocol layer</a:t>
            </a:r>
            <a:endParaRPr lang="en-US" dirty="0"/>
          </a:p>
        </p:txBody>
      </p:sp>
      <p:sp>
        <p:nvSpPr>
          <p:cNvPr id="7" name="文字方塊 6">
            <a:extLst>
              <a:ext uri="{FF2B5EF4-FFF2-40B4-BE49-F238E27FC236}">
                <a16:creationId xmlns:a16="http://schemas.microsoft.com/office/drawing/2014/main" id="{4202CAB5-67DF-4861-B57E-EA05EE8E2E6C}"/>
              </a:ext>
            </a:extLst>
          </p:cNvPr>
          <p:cNvSpPr txBox="1"/>
          <p:nvPr/>
        </p:nvSpPr>
        <p:spPr>
          <a:xfrm>
            <a:off x="911424" y="5589240"/>
            <a:ext cx="10729192" cy="646331"/>
          </a:xfrm>
          <a:prstGeom prst="rect">
            <a:avLst/>
          </a:prstGeom>
          <a:noFill/>
        </p:spPr>
        <p:txBody>
          <a:bodyPr wrap="square" rtlCol="0">
            <a:spAutoFit/>
          </a:bodyPr>
          <a:lstStyle/>
          <a:p>
            <a:r>
              <a:rPr lang="zh-CN" altLang="en-US" dirty="0">
                <a:solidFill>
                  <a:srgbClr val="FF0000"/>
                </a:solidFill>
              </a:rPr>
              <a:t>产生的同步 </a:t>
            </a:r>
            <a:r>
              <a:rPr lang="en-US" altLang="zh-CN" dirty="0">
                <a:solidFill>
                  <a:srgbClr val="FF0000"/>
                </a:solidFill>
              </a:rPr>
              <a:t>SCL </a:t>
            </a:r>
            <a:r>
              <a:rPr lang="zh-CN" altLang="en-US" dirty="0">
                <a:solidFill>
                  <a:srgbClr val="FF0000"/>
                </a:solidFill>
              </a:rPr>
              <a:t>时钟的低电平周期由低电平时钟周期最长的器件决定 而高电平周期由高电平 时钟周期最短的器件决定。</a:t>
            </a:r>
            <a:endParaRPr lang="en-US" dirty="0">
              <a:solidFill>
                <a:srgbClr val="FF0000"/>
              </a:solidFill>
            </a:endParaRPr>
          </a:p>
        </p:txBody>
      </p:sp>
      <p:grpSp>
        <p:nvGrpSpPr>
          <p:cNvPr id="3" name="群組 2">
            <a:extLst>
              <a:ext uri="{FF2B5EF4-FFF2-40B4-BE49-F238E27FC236}">
                <a16:creationId xmlns:a16="http://schemas.microsoft.com/office/drawing/2014/main" id="{B8BA8DA4-C68F-44BD-8ED9-EEC1F0180248}"/>
              </a:ext>
            </a:extLst>
          </p:cNvPr>
          <p:cNvGrpSpPr/>
          <p:nvPr/>
        </p:nvGrpSpPr>
        <p:grpSpPr>
          <a:xfrm>
            <a:off x="1775520" y="800968"/>
            <a:ext cx="8568952" cy="4842642"/>
            <a:chOff x="2135560" y="800968"/>
            <a:chExt cx="8568952" cy="4842642"/>
          </a:xfrm>
        </p:grpSpPr>
        <p:pic>
          <p:nvPicPr>
            <p:cNvPr id="9" name="圖片 8">
              <a:extLst>
                <a:ext uri="{FF2B5EF4-FFF2-40B4-BE49-F238E27FC236}">
                  <a16:creationId xmlns:a16="http://schemas.microsoft.com/office/drawing/2014/main" id="{DB8075E5-562E-4F0E-9807-CE30B7460ED5}"/>
                </a:ext>
              </a:extLst>
            </p:cNvPr>
            <p:cNvPicPr>
              <a:picLocks noChangeAspect="1"/>
            </p:cNvPicPr>
            <p:nvPr/>
          </p:nvPicPr>
          <p:blipFill rotWithShape="1">
            <a:blip r:embed="rId2"/>
            <a:srcRect t="6005" b="4967"/>
            <a:stretch/>
          </p:blipFill>
          <p:spPr>
            <a:xfrm>
              <a:off x="2135560" y="1196752"/>
              <a:ext cx="8568952" cy="4446858"/>
            </a:xfrm>
            <a:prstGeom prst="rect">
              <a:avLst/>
            </a:prstGeom>
          </p:spPr>
        </p:pic>
        <p:sp>
          <p:nvSpPr>
            <p:cNvPr id="12" name="文字方塊 11">
              <a:extLst>
                <a:ext uri="{FF2B5EF4-FFF2-40B4-BE49-F238E27FC236}">
                  <a16:creationId xmlns:a16="http://schemas.microsoft.com/office/drawing/2014/main" id="{E4508571-1BEF-4FB5-BE8A-E72DA5A4161B}"/>
                </a:ext>
              </a:extLst>
            </p:cNvPr>
            <p:cNvSpPr txBox="1"/>
            <p:nvPr/>
          </p:nvSpPr>
          <p:spPr>
            <a:xfrm>
              <a:off x="2844592" y="800968"/>
              <a:ext cx="7211848" cy="461665"/>
            </a:xfrm>
            <a:prstGeom prst="rect">
              <a:avLst/>
            </a:prstGeom>
            <a:noFill/>
          </p:spPr>
          <p:txBody>
            <a:bodyPr wrap="square">
              <a:spAutoFit/>
            </a:bodyPr>
            <a:lstStyle/>
            <a:p>
              <a:pPr algn="ctr"/>
              <a:r>
                <a:rPr lang="en-US" sz="2400" dirty="0"/>
                <a:t>Clock synchronization during the arbitration procedure</a:t>
              </a:r>
            </a:p>
          </p:txBody>
        </p:sp>
      </p:grpSp>
    </p:spTree>
    <p:extLst>
      <p:ext uri="{BB962C8B-B14F-4D97-AF65-F5344CB8AC3E}">
        <p14:creationId xmlns:p14="http://schemas.microsoft.com/office/powerpoint/2010/main" val="2052914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73CDB9-55D0-4013-A4C0-96349D55E165}"/>
              </a:ext>
            </a:extLst>
          </p:cNvPr>
          <p:cNvSpPr>
            <a:spLocks noGrp="1"/>
          </p:cNvSpPr>
          <p:nvPr>
            <p:ph type="title"/>
          </p:nvPr>
        </p:nvSpPr>
        <p:spPr/>
        <p:txBody>
          <a:bodyPr/>
          <a:lstStyle/>
          <a:p>
            <a:r>
              <a:rPr lang="en-US" sz="3600" b="0" dirty="0">
                <a:solidFill>
                  <a:srgbClr val="000000"/>
                </a:solidFill>
                <a:effectLst/>
                <a:latin typeface="Consolas" panose="020B0609020204030204" pitchFamily="49" charset="0"/>
              </a:rPr>
              <a:t>I2C Protocol layer</a:t>
            </a:r>
            <a:endParaRPr lang="en-US" sz="3600" dirty="0"/>
          </a:p>
        </p:txBody>
      </p:sp>
      <p:pic>
        <p:nvPicPr>
          <p:cNvPr id="17" name="圖片 16">
            <a:extLst>
              <a:ext uri="{FF2B5EF4-FFF2-40B4-BE49-F238E27FC236}">
                <a16:creationId xmlns:a16="http://schemas.microsoft.com/office/drawing/2014/main" id="{F649B6AC-B191-498D-B208-4338F96B7C6D}"/>
              </a:ext>
            </a:extLst>
          </p:cNvPr>
          <p:cNvPicPr>
            <a:picLocks noChangeAspect="1"/>
          </p:cNvPicPr>
          <p:nvPr/>
        </p:nvPicPr>
        <p:blipFill rotWithShape="1">
          <a:blip r:embed="rId2"/>
          <a:srcRect r="7477"/>
          <a:stretch/>
        </p:blipFill>
        <p:spPr>
          <a:xfrm>
            <a:off x="2639616" y="1550466"/>
            <a:ext cx="6480720" cy="3606726"/>
          </a:xfrm>
          <a:prstGeom prst="rect">
            <a:avLst/>
          </a:prstGeom>
        </p:spPr>
      </p:pic>
      <p:sp>
        <p:nvSpPr>
          <p:cNvPr id="22" name="文字方塊 21">
            <a:extLst>
              <a:ext uri="{FF2B5EF4-FFF2-40B4-BE49-F238E27FC236}">
                <a16:creationId xmlns:a16="http://schemas.microsoft.com/office/drawing/2014/main" id="{B5F3B612-E96A-40B8-B4DE-B1DC3B0E07C5}"/>
              </a:ext>
            </a:extLst>
          </p:cNvPr>
          <p:cNvSpPr txBox="1"/>
          <p:nvPr/>
        </p:nvSpPr>
        <p:spPr>
          <a:xfrm>
            <a:off x="767408" y="5473738"/>
            <a:ext cx="10297144" cy="923330"/>
          </a:xfrm>
          <a:prstGeom prst="rect">
            <a:avLst/>
          </a:prstGeom>
          <a:noFill/>
        </p:spPr>
        <p:txBody>
          <a:bodyPr wrap="square">
            <a:spAutoFit/>
          </a:bodyPr>
          <a:lstStyle/>
          <a:p>
            <a:pPr marL="285750" indent="-285750" algn="l">
              <a:buFont typeface="Arial" panose="020B0604020202020204" pitchFamily="34" charset="0"/>
              <a:buChar char="•"/>
            </a:pPr>
            <a:r>
              <a:rPr lang="zh-CN" altLang="en-US" b="0" i="0" dirty="0">
                <a:solidFill>
                  <a:srgbClr val="060607"/>
                </a:solidFill>
                <a:effectLst/>
                <a:latin typeface="-apple-system"/>
              </a:rPr>
              <a:t>仲裁过程中，主设备会在每个时钟周期检查</a:t>
            </a:r>
            <a:r>
              <a:rPr lang="en-US" altLang="zh-CN" b="0" i="0" dirty="0">
                <a:solidFill>
                  <a:srgbClr val="060607"/>
                </a:solidFill>
                <a:effectLst/>
                <a:latin typeface="-apple-system"/>
              </a:rPr>
              <a:t>SDA</a:t>
            </a:r>
            <a:r>
              <a:rPr lang="zh-CN" altLang="en-US" b="0" i="0" dirty="0">
                <a:solidFill>
                  <a:srgbClr val="060607"/>
                </a:solidFill>
                <a:effectLst/>
                <a:latin typeface="-apple-system"/>
              </a:rPr>
              <a:t>线上的电平</a:t>
            </a:r>
            <a:r>
              <a:rPr lang="zh-CN" altLang="en-US" dirty="0">
                <a:solidFill>
                  <a:srgbClr val="060607"/>
                </a:solidFill>
                <a:latin typeface="-apple-system"/>
              </a:rPr>
              <a:t>，</a:t>
            </a:r>
            <a:r>
              <a:rPr lang="zh-CN" altLang="en-US" b="0" i="0" dirty="0">
                <a:solidFill>
                  <a:srgbClr val="FF0000"/>
                </a:solidFill>
                <a:effectLst/>
                <a:latin typeface="-apple-system"/>
              </a:rPr>
              <a:t>如果一个主设备发现</a:t>
            </a:r>
            <a:r>
              <a:rPr lang="en-US" altLang="zh-CN" b="0" i="0" dirty="0">
                <a:solidFill>
                  <a:srgbClr val="FF0000"/>
                </a:solidFill>
                <a:effectLst/>
                <a:latin typeface="-apple-system"/>
              </a:rPr>
              <a:t>SDA</a:t>
            </a:r>
            <a:r>
              <a:rPr lang="zh-CN" altLang="en-US" b="0" i="0" dirty="0">
                <a:solidFill>
                  <a:srgbClr val="FF0000"/>
                </a:solidFill>
                <a:effectLst/>
                <a:latin typeface="-apple-system"/>
              </a:rPr>
              <a:t>线不是所驱动的电平，它就知道自己在仲裁中失败了</a:t>
            </a:r>
            <a:r>
              <a:rPr lang="zh-CN" altLang="en-US" b="0" i="0" dirty="0">
                <a:solidFill>
                  <a:srgbClr val="060607"/>
                </a:solidFill>
                <a:effectLst/>
                <a:latin typeface="-apple-system"/>
              </a:rPr>
              <a:t>。</a:t>
            </a:r>
            <a:endParaRPr lang="en-US" altLang="zh-CN" b="0" i="0" dirty="0">
              <a:solidFill>
                <a:srgbClr val="060607"/>
              </a:solidFill>
              <a:effectLst/>
              <a:latin typeface="-apple-system"/>
            </a:endParaRPr>
          </a:p>
          <a:p>
            <a:pPr marL="285750" indent="-285750" algn="l">
              <a:buFont typeface="Arial" panose="020B0604020202020204" pitchFamily="34" charset="0"/>
              <a:buChar char="•"/>
            </a:pPr>
            <a:r>
              <a:rPr lang="zh-CN" altLang="en-US" b="0" i="0" dirty="0">
                <a:solidFill>
                  <a:srgbClr val="060607"/>
                </a:solidFill>
                <a:effectLst/>
                <a:latin typeface="-apple-system"/>
              </a:rPr>
              <a:t>仲裁的“输家”是那些在</a:t>
            </a:r>
            <a:r>
              <a:rPr lang="en-US" altLang="zh-CN" b="0" i="0" dirty="0">
                <a:solidFill>
                  <a:srgbClr val="060607"/>
                </a:solidFill>
                <a:effectLst/>
                <a:latin typeface="-apple-system"/>
              </a:rPr>
              <a:t>SDA</a:t>
            </a:r>
            <a:r>
              <a:rPr lang="zh-CN" altLang="en-US" b="0" i="0" dirty="0">
                <a:solidFill>
                  <a:srgbClr val="060607"/>
                </a:solidFill>
                <a:effectLst/>
                <a:latin typeface="-apple-system"/>
              </a:rPr>
              <a:t>线上检测到高电平的主设备，它们会</a:t>
            </a:r>
            <a:r>
              <a:rPr lang="zh-CN" altLang="en-US" b="0" i="0" dirty="0">
                <a:solidFill>
                  <a:srgbClr val="FF0000"/>
                </a:solidFill>
                <a:effectLst/>
                <a:latin typeface="-apple-system"/>
              </a:rPr>
              <a:t>停止驱动总线并释放总线控制权</a:t>
            </a:r>
            <a:r>
              <a:rPr lang="zh-CN" altLang="en-US" dirty="0">
                <a:solidFill>
                  <a:srgbClr val="FF0000"/>
                </a:solidFill>
                <a:latin typeface="-apple-system"/>
              </a:rPr>
              <a:t>。</a:t>
            </a:r>
            <a:endParaRPr lang="zh-CN" altLang="en-US" b="0" i="0" dirty="0">
              <a:solidFill>
                <a:srgbClr val="FF0000"/>
              </a:solidFill>
              <a:effectLst/>
              <a:latin typeface="-apple-system"/>
            </a:endParaRPr>
          </a:p>
        </p:txBody>
      </p:sp>
      <p:sp>
        <p:nvSpPr>
          <p:cNvPr id="24" name="文字方塊 23">
            <a:extLst>
              <a:ext uri="{FF2B5EF4-FFF2-40B4-BE49-F238E27FC236}">
                <a16:creationId xmlns:a16="http://schemas.microsoft.com/office/drawing/2014/main" id="{66310522-8D24-4DFB-AA72-3CC3A929209A}"/>
              </a:ext>
            </a:extLst>
          </p:cNvPr>
          <p:cNvSpPr txBox="1"/>
          <p:nvPr/>
        </p:nvSpPr>
        <p:spPr>
          <a:xfrm>
            <a:off x="2977560" y="772255"/>
            <a:ext cx="6142776" cy="461665"/>
          </a:xfrm>
          <a:prstGeom prst="rect">
            <a:avLst/>
          </a:prstGeom>
          <a:noFill/>
        </p:spPr>
        <p:txBody>
          <a:bodyPr wrap="square">
            <a:spAutoFit/>
          </a:bodyPr>
          <a:lstStyle/>
          <a:p>
            <a:r>
              <a:rPr lang="en-US" sz="2400" dirty="0"/>
              <a:t>Arbitration procedure of two controllers</a:t>
            </a:r>
            <a:r>
              <a:rPr lang="zh-CN" altLang="en-US" sz="2400" dirty="0"/>
              <a:t>（仲裁）</a:t>
            </a:r>
            <a:endParaRPr lang="en-US" sz="2400" dirty="0"/>
          </a:p>
        </p:txBody>
      </p:sp>
    </p:spTree>
    <p:extLst>
      <p:ext uri="{BB962C8B-B14F-4D97-AF65-F5344CB8AC3E}">
        <p14:creationId xmlns:p14="http://schemas.microsoft.com/office/powerpoint/2010/main" val="2101451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73CDB9-55D0-4013-A4C0-96349D55E165}"/>
              </a:ext>
            </a:extLst>
          </p:cNvPr>
          <p:cNvSpPr>
            <a:spLocks noGrp="1"/>
          </p:cNvSpPr>
          <p:nvPr>
            <p:ph type="title"/>
          </p:nvPr>
        </p:nvSpPr>
        <p:spPr/>
        <p:txBody>
          <a:bodyPr/>
          <a:lstStyle/>
          <a:p>
            <a:r>
              <a:rPr lang="en-US" sz="3600" b="0" dirty="0">
                <a:solidFill>
                  <a:srgbClr val="000000"/>
                </a:solidFill>
                <a:effectLst/>
                <a:latin typeface="Consolas" panose="020B0609020204030204" pitchFamily="49" charset="0"/>
              </a:rPr>
              <a:t>I2C Protocol layer</a:t>
            </a:r>
            <a:endParaRPr lang="en-US" sz="3600" dirty="0"/>
          </a:p>
        </p:txBody>
      </p:sp>
      <p:sp>
        <p:nvSpPr>
          <p:cNvPr id="4" name="文字方塊 3">
            <a:extLst>
              <a:ext uri="{FF2B5EF4-FFF2-40B4-BE49-F238E27FC236}">
                <a16:creationId xmlns:a16="http://schemas.microsoft.com/office/drawing/2014/main" id="{F8FCEC17-D402-4179-98A6-36134F1131A0}"/>
              </a:ext>
            </a:extLst>
          </p:cNvPr>
          <p:cNvSpPr txBox="1"/>
          <p:nvPr/>
        </p:nvSpPr>
        <p:spPr>
          <a:xfrm>
            <a:off x="511055" y="980728"/>
            <a:ext cx="6840760" cy="1477328"/>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222222"/>
                </a:solidFill>
                <a:effectLst/>
                <a:latin typeface="Source Sans Pro" panose="020B0503030403020204" pitchFamily="34" charset="0"/>
              </a:rPr>
              <a:t>start: DAT falling while CLK is high</a:t>
            </a:r>
          </a:p>
          <a:p>
            <a:pPr marL="285750" indent="-285750" algn="l">
              <a:buFont typeface="Arial" panose="020B0604020202020204" pitchFamily="34" charset="0"/>
              <a:buChar char="•"/>
            </a:pPr>
            <a:r>
              <a:rPr lang="en-US" b="0" i="0" dirty="0">
                <a:solidFill>
                  <a:srgbClr val="222222"/>
                </a:solidFill>
                <a:effectLst/>
                <a:latin typeface="Source Sans Pro" panose="020B0503030403020204" pitchFamily="34" charset="0"/>
              </a:rPr>
              <a:t>I</a:t>
            </a:r>
            <a:r>
              <a:rPr lang="en-US" b="0" i="0" baseline="30000" dirty="0">
                <a:solidFill>
                  <a:srgbClr val="222222"/>
                </a:solidFill>
                <a:effectLst/>
                <a:latin typeface="Source Sans Pro" panose="020B0503030403020204" pitchFamily="34" charset="0"/>
              </a:rPr>
              <a:t>2</a:t>
            </a:r>
            <a:r>
              <a:rPr lang="en-US" b="0" i="0" dirty="0">
                <a:solidFill>
                  <a:srgbClr val="222222"/>
                </a:solidFill>
                <a:effectLst/>
                <a:latin typeface="Source Sans Pro" panose="020B0503030403020204" pitchFamily="34" charset="0"/>
              </a:rPr>
              <a:t>C Address is 7 bits</a:t>
            </a:r>
          </a:p>
          <a:p>
            <a:pPr marL="285750" indent="-285750" algn="l">
              <a:buFont typeface="Arial" panose="020B0604020202020204" pitchFamily="34" charset="0"/>
              <a:buChar char="•"/>
            </a:pPr>
            <a:r>
              <a:rPr lang="en-US" b="0" i="0" dirty="0">
                <a:solidFill>
                  <a:srgbClr val="222222"/>
                </a:solidFill>
                <a:effectLst/>
                <a:latin typeface="Source Sans Pro" panose="020B0503030403020204" pitchFamily="34" charset="0"/>
              </a:rPr>
              <a:t>Write: 0; read: 1</a:t>
            </a:r>
          </a:p>
          <a:p>
            <a:pPr marL="285750" indent="-285750" algn="l">
              <a:buFont typeface="Arial" panose="020B0604020202020204" pitchFamily="34" charset="0"/>
              <a:buChar char="•"/>
            </a:pPr>
            <a:r>
              <a:rPr lang="en-US" b="0" i="0" dirty="0">
                <a:solidFill>
                  <a:srgbClr val="222222"/>
                </a:solidFill>
                <a:effectLst/>
                <a:latin typeface="Source Sans Pro" panose="020B0503030403020204" pitchFamily="34" charset="0"/>
              </a:rPr>
              <a:t>ACK: 0; NACK: 1</a:t>
            </a:r>
          </a:p>
          <a:p>
            <a:pPr marL="285750" indent="-285750" algn="l">
              <a:buFont typeface="Arial" panose="020B0604020202020204" pitchFamily="34" charset="0"/>
              <a:buChar char="•"/>
            </a:pPr>
            <a:r>
              <a:rPr lang="en-US" b="0" i="0" dirty="0">
                <a:solidFill>
                  <a:srgbClr val="222222"/>
                </a:solidFill>
                <a:effectLst/>
                <a:latin typeface="Source Sans Pro" panose="020B0503030403020204" pitchFamily="34" charset="0"/>
              </a:rPr>
              <a:t>stop: DAT rising while CLK is high</a:t>
            </a:r>
          </a:p>
        </p:txBody>
      </p:sp>
      <p:pic>
        <p:nvPicPr>
          <p:cNvPr id="6" name="圖片 5">
            <a:extLst>
              <a:ext uri="{FF2B5EF4-FFF2-40B4-BE49-F238E27FC236}">
                <a16:creationId xmlns:a16="http://schemas.microsoft.com/office/drawing/2014/main" id="{DA66856A-FB93-40C6-AA7E-CAE62DDC345E}"/>
              </a:ext>
            </a:extLst>
          </p:cNvPr>
          <p:cNvPicPr>
            <a:picLocks noChangeAspect="1"/>
          </p:cNvPicPr>
          <p:nvPr/>
        </p:nvPicPr>
        <p:blipFill>
          <a:blip r:embed="rId2"/>
          <a:stretch>
            <a:fillRect/>
          </a:stretch>
        </p:blipFill>
        <p:spPr>
          <a:xfrm>
            <a:off x="810569" y="2636912"/>
            <a:ext cx="9893943" cy="3406965"/>
          </a:xfrm>
          <a:prstGeom prst="rect">
            <a:avLst/>
          </a:prstGeom>
          <a:ln>
            <a:solidFill>
              <a:schemeClr val="bg1"/>
            </a:solidFill>
          </a:ln>
        </p:spPr>
      </p:pic>
    </p:spTree>
    <p:extLst>
      <p:ext uri="{BB962C8B-B14F-4D97-AF65-F5344CB8AC3E}">
        <p14:creationId xmlns:p14="http://schemas.microsoft.com/office/powerpoint/2010/main" val="417902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95EA8-4384-42A1-9B6A-DD5E4231388F}"/>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Application</a:t>
            </a:r>
            <a:r>
              <a:rPr lang="zh-CN" altLang="en-US" sz="3200" b="0" dirty="0">
                <a:solidFill>
                  <a:srgbClr val="000000"/>
                </a:solidFill>
                <a:effectLst/>
                <a:latin typeface="Consolas" panose="020B0609020204030204" pitchFamily="49" charset="0"/>
              </a:rPr>
              <a:t>（</a:t>
            </a:r>
            <a:r>
              <a:rPr lang="en-US" sz="3200" dirty="0">
                <a:solidFill>
                  <a:srgbClr val="000000"/>
                </a:solidFill>
                <a:latin typeface="Consolas" panose="020B0609020204030204" pitchFamily="49" charset="0"/>
              </a:rPr>
              <a:t>I2C subsystem</a:t>
            </a:r>
            <a:r>
              <a:rPr lang="zh-CN" altLang="en-US" sz="3200" b="0" dirty="0">
                <a:solidFill>
                  <a:srgbClr val="000000"/>
                </a:solidFill>
                <a:effectLst/>
                <a:latin typeface="Consolas" panose="020B0609020204030204" pitchFamily="49" charset="0"/>
              </a:rPr>
              <a:t>）</a:t>
            </a:r>
            <a:endParaRPr lang="en-US" dirty="0"/>
          </a:p>
        </p:txBody>
      </p:sp>
      <p:sp>
        <p:nvSpPr>
          <p:cNvPr id="4" name="文字方塊 3">
            <a:extLst>
              <a:ext uri="{FF2B5EF4-FFF2-40B4-BE49-F238E27FC236}">
                <a16:creationId xmlns:a16="http://schemas.microsoft.com/office/drawing/2014/main" id="{897A6535-9CC2-4392-8527-6B2011708C8B}"/>
              </a:ext>
            </a:extLst>
          </p:cNvPr>
          <p:cNvSpPr txBox="1"/>
          <p:nvPr/>
        </p:nvSpPr>
        <p:spPr>
          <a:xfrm>
            <a:off x="623392" y="1196752"/>
            <a:ext cx="8568952" cy="461908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Like all bus subsystems, the I2C bus driver is responsible for:</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Providing an API to implement I2C controller drivers</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Providing an API to implement I2C device drivers, in kernel space</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Providing an API to implement I2C device drivers, in user space</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I2C core:</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The core of the I2C bus driver is located in </a:t>
            </a:r>
            <a:r>
              <a:rPr lang="en-US" b="0" i="0" dirty="0">
                <a:solidFill>
                  <a:srgbClr val="0000FF"/>
                </a:solidFill>
                <a:effectLst/>
                <a:latin typeface="Source Sans Pro" panose="020B0503030403020204" pitchFamily="34" charset="0"/>
              </a:rPr>
              <a:t>drivers/i2c/</a:t>
            </a:r>
            <a:endParaRPr lang="en-US" b="0" i="0" dirty="0">
              <a:solidFill>
                <a:srgbClr val="222222"/>
              </a:solidFill>
              <a:effectLst/>
              <a:latin typeface="Source Sans Pro" panose="020B0503030403020204" pitchFamily="34" charset="0"/>
            </a:endParaRP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I2C adapter:</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The I2C controller drivers are located in </a:t>
            </a:r>
            <a:r>
              <a:rPr lang="en-US" b="0" i="0" dirty="0">
                <a:solidFill>
                  <a:srgbClr val="0000FF"/>
                </a:solidFill>
                <a:effectLst/>
                <a:latin typeface="Source Sans Pro" panose="020B0503030403020204" pitchFamily="34" charset="0"/>
              </a:rPr>
              <a:t>drivers/i2c/busses/</a:t>
            </a:r>
            <a:endParaRPr lang="en-US" b="0" i="0" dirty="0">
              <a:solidFill>
                <a:srgbClr val="222222"/>
              </a:solidFill>
              <a:effectLst/>
              <a:latin typeface="Source Sans Pro" panose="020B0503030403020204" pitchFamily="34" charset="0"/>
            </a:endParaRP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i2c device driver:</a:t>
            </a:r>
          </a:p>
          <a:p>
            <a:pPr marL="742950" lvl="1" indent="-285750" algn="l">
              <a:lnSpc>
                <a:spcPct val="150000"/>
              </a:lnSpc>
              <a:buFont typeface="Courier New" panose="02070309020205020404" pitchFamily="49" charset="0"/>
              <a:buChar char="o"/>
            </a:pPr>
            <a:r>
              <a:rPr lang="en-US" b="0" i="0" dirty="0">
                <a:solidFill>
                  <a:srgbClr val="222222"/>
                </a:solidFill>
                <a:effectLst/>
                <a:latin typeface="Source Sans Pro" panose="020B0503030403020204" pitchFamily="34" charset="0"/>
              </a:rPr>
              <a:t>The I2C device drivers are located throughout </a:t>
            </a:r>
            <a:r>
              <a:rPr lang="en-US" b="0" i="0" dirty="0">
                <a:solidFill>
                  <a:srgbClr val="0000FF"/>
                </a:solidFill>
                <a:effectLst/>
                <a:latin typeface="Source Sans Pro" panose="020B0503030403020204" pitchFamily="34" charset="0"/>
              </a:rPr>
              <a:t>drivers/</a:t>
            </a:r>
            <a:r>
              <a:rPr lang="en-US" b="0" i="0" dirty="0">
                <a:solidFill>
                  <a:srgbClr val="222222"/>
                </a:solidFill>
                <a:effectLst/>
                <a:latin typeface="Source Sans Pro" panose="020B0503030403020204" pitchFamily="34" charset="0"/>
              </a:rPr>
              <a:t>, depending on the framework used to expose the devices (e.g. drivers/input/ for input devices).</a:t>
            </a:r>
          </a:p>
        </p:txBody>
      </p:sp>
    </p:spTree>
    <p:extLst>
      <p:ext uri="{BB962C8B-B14F-4D97-AF65-F5344CB8AC3E}">
        <p14:creationId xmlns:p14="http://schemas.microsoft.com/office/powerpoint/2010/main" val="3107751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t>
            </a:r>
            <a:r>
              <a:rPr lang="en-US" altLang="zh-CN" sz="3200" b="0" dirty="0">
                <a:solidFill>
                  <a:srgbClr val="000000"/>
                </a:solidFill>
                <a:effectLst/>
                <a:latin typeface="Consolas" panose="020B0609020204030204" pitchFamily="49" charset="0"/>
              </a:rPr>
              <a:t>A</a:t>
            </a:r>
            <a:r>
              <a:rPr lang="en-US" sz="3200" b="0" dirty="0">
                <a:solidFill>
                  <a:srgbClr val="000000"/>
                </a:solidFill>
                <a:effectLst/>
                <a:latin typeface="Consolas" panose="020B0609020204030204" pitchFamily="49" charset="0"/>
              </a:rPr>
              <a:t>pplication</a:t>
            </a:r>
            <a:r>
              <a:rPr lang="zh-CN" altLang="en-US" sz="3200" b="0" dirty="0">
                <a:solidFill>
                  <a:srgbClr val="000000"/>
                </a:solidFill>
                <a:effectLst/>
                <a:latin typeface="Consolas" panose="020B0609020204030204" pitchFamily="49" charset="0"/>
              </a:rPr>
              <a:t>（</a:t>
            </a:r>
            <a:r>
              <a:rPr lang="en-US" sz="3200" dirty="0">
                <a:solidFill>
                  <a:srgbClr val="000000"/>
                </a:solidFill>
                <a:latin typeface="Consolas" panose="020B0609020204030204" pitchFamily="49" charset="0"/>
              </a:rPr>
              <a:t>I2C subsystem</a:t>
            </a:r>
            <a:r>
              <a:rPr lang="zh-CN" altLang="en-US" sz="3200" b="0" dirty="0">
                <a:solidFill>
                  <a:srgbClr val="000000"/>
                </a:solidFill>
                <a:effectLst/>
                <a:latin typeface="Consolas" panose="020B0609020204030204" pitchFamily="49" charset="0"/>
              </a:rPr>
              <a:t>）</a:t>
            </a:r>
            <a:endParaRPr lang="en-US" dirty="0"/>
          </a:p>
        </p:txBody>
      </p:sp>
      <p:grpSp>
        <p:nvGrpSpPr>
          <p:cNvPr id="3" name="群組 2">
            <a:extLst>
              <a:ext uri="{FF2B5EF4-FFF2-40B4-BE49-F238E27FC236}">
                <a16:creationId xmlns:a16="http://schemas.microsoft.com/office/drawing/2014/main" id="{8D60199C-280A-4EB6-B1AF-A13A3B232880}"/>
              </a:ext>
            </a:extLst>
          </p:cNvPr>
          <p:cNvGrpSpPr/>
          <p:nvPr/>
        </p:nvGrpSpPr>
        <p:grpSpPr>
          <a:xfrm>
            <a:off x="2063552" y="980728"/>
            <a:ext cx="7920880" cy="5256584"/>
            <a:chOff x="2135560" y="836712"/>
            <a:chExt cx="8045012" cy="5760640"/>
          </a:xfrm>
        </p:grpSpPr>
        <p:pic>
          <p:nvPicPr>
            <p:cNvPr id="4" name="圖片 3">
              <a:extLst>
                <a:ext uri="{FF2B5EF4-FFF2-40B4-BE49-F238E27FC236}">
                  <a16:creationId xmlns:a16="http://schemas.microsoft.com/office/drawing/2014/main" id="{33A38BE2-4CD2-4413-84E3-470ABDF2276E}"/>
                </a:ext>
              </a:extLst>
            </p:cNvPr>
            <p:cNvPicPr>
              <a:picLocks noChangeAspect="1"/>
            </p:cNvPicPr>
            <p:nvPr/>
          </p:nvPicPr>
          <p:blipFill rotWithShape="1">
            <a:blip r:embed="rId2"/>
            <a:srcRect t="836"/>
            <a:stretch/>
          </p:blipFill>
          <p:spPr>
            <a:xfrm>
              <a:off x="2135560" y="1207549"/>
              <a:ext cx="8045012" cy="5389803"/>
            </a:xfrm>
            <a:prstGeom prst="rect">
              <a:avLst/>
            </a:prstGeom>
          </p:spPr>
        </p:pic>
        <p:sp>
          <p:nvSpPr>
            <p:cNvPr id="6" name="文字方塊 5">
              <a:extLst>
                <a:ext uri="{FF2B5EF4-FFF2-40B4-BE49-F238E27FC236}">
                  <a16:creationId xmlns:a16="http://schemas.microsoft.com/office/drawing/2014/main" id="{77F3EFA0-5876-4342-9D70-1DFADF9D769D}"/>
                </a:ext>
              </a:extLst>
            </p:cNvPr>
            <p:cNvSpPr txBox="1"/>
            <p:nvPr/>
          </p:nvSpPr>
          <p:spPr>
            <a:xfrm>
              <a:off x="4223792" y="836712"/>
              <a:ext cx="3600400" cy="400110"/>
            </a:xfrm>
            <a:prstGeom prst="rect">
              <a:avLst/>
            </a:prstGeom>
            <a:noFill/>
          </p:spPr>
          <p:txBody>
            <a:bodyPr wrap="square">
              <a:spAutoFit/>
            </a:bodyPr>
            <a:lstStyle/>
            <a:p>
              <a:pPr algn="ctr"/>
              <a:r>
                <a:rPr lang="en-US" sz="2000" i="0" dirty="0">
                  <a:solidFill>
                    <a:srgbClr val="222222"/>
                  </a:solidFill>
                  <a:effectLst/>
                  <a:latin typeface="Source Sans Pro" panose="020B0503030403020204" pitchFamily="34" charset="0"/>
                </a:rPr>
                <a:t>I2C Subsystem Architecture</a:t>
              </a:r>
            </a:p>
          </p:txBody>
        </p:sp>
      </p:grpSp>
    </p:spTree>
    <p:extLst>
      <p:ext uri="{BB962C8B-B14F-4D97-AF65-F5344CB8AC3E}">
        <p14:creationId xmlns:p14="http://schemas.microsoft.com/office/powerpoint/2010/main" val="1065526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Application</a:t>
            </a:r>
            <a:r>
              <a:rPr lang="zh-CN" altLang="en-US" sz="3200" b="0" dirty="0">
                <a:solidFill>
                  <a:srgbClr val="000000"/>
                </a:solidFill>
                <a:effectLst/>
                <a:latin typeface="Consolas" panose="020B0609020204030204" pitchFamily="49" charset="0"/>
              </a:rPr>
              <a:t>（</a:t>
            </a:r>
            <a:r>
              <a:rPr lang="en-US" sz="3200" dirty="0">
                <a:solidFill>
                  <a:srgbClr val="000000"/>
                </a:solidFill>
                <a:latin typeface="Consolas" panose="020B0609020204030204" pitchFamily="49" charset="0"/>
              </a:rPr>
              <a:t>I2C subsystem</a:t>
            </a:r>
            <a:r>
              <a:rPr lang="zh-CN" altLang="en-US" sz="3200" b="0" dirty="0">
                <a:solidFill>
                  <a:srgbClr val="000000"/>
                </a:solidFill>
                <a:effectLst/>
                <a:latin typeface="Consolas" panose="020B0609020204030204" pitchFamily="49" charset="0"/>
              </a:rPr>
              <a:t>）</a:t>
            </a:r>
            <a:endParaRPr lang="en-US" dirty="0"/>
          </a:p>
        </p:txBody>
      </p:sp>
      <p:sp>
        <p:nvSpPr>
          <p:cNvPr id="3" name="Rectangle 1">
            <a:extLst>
              <a:ext uri="{FF2B5EF4-FFF2-40B4-BE49-F238E27FC236}">
                <a16:creationId xmlns:a16="http://schemas.microsoft.com/office/drawing/2014/main" id="{FC991174-EF37-4F3E-832F-A928D0EDE14E}"/>
              </a:ext>
            </a:extLst>
          </p:cNvPr>
          <p:cNvSpPr>
            <a:spLocks noChangeArrowheads="1"/>
          </p:cNvSpPr>
          <p:nvPr/>
        </p:nvSpPr>
        <p:spPr bwMode="auto">
          <a:xfrm>
            <a:off x="623392" y="1169660"/>
            <a:ext cx="10441160" cy="47076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36482" rIns="0" bIns="136482" numCol="1" anchor="ctr" anchorCtr="0" compatLnSpc="1">
            <a:prstTxWarp prst="textNoShape">
              <a:avLst/>
            </a:prstTxWarp>
            <a:spAutoFit/>
          </a:bodyPr>
          <a:lstStyle/>
          <a:p>
            <a:pPr marL="285750" indent="-285750" algn="l">
              <a:buFont typeface="Arial" panose="020B0604020202020204" pitchFamily="34" charset="0"/>
              <a:buChar char="•"/>
            </a:pPr>
            <a:r>
              <a:rPr lang="en-US" altLang="zh-CN" b="1" i="0" dirty="0">
                <a:solidFill>
                  <a:srgbClr val="060607"/>
                </a:solidFill>
                <a:effectLst/>
                <a:latin typeface="-apple-system"/>
              </a:rPr>
              <a:t>I2C Drivers</a:t>
            </a:r>
            <a:r>
              <a:rPr lang="zh-CN" altLang="en-US" b="0" i="0" dirty="0">
                <a:solidFill>
                  <a:srgbClr val="060607"/>
                </a:solidFill>
                <a:effectLst/>
                <a:latin typeface="-apple-system"/>
              </a:rPr>
              <a:t>：</a:t>
            </a:r>
          </a:p>
          <a:p>
            <a:pPr marL="742950" lvl="1" indent="-285750" algn="l">
              <a:buFont typeface="Arial" panose="020B0604020202020204" pitchFamily="34" charset="0"/>
              <a:buChar char="•"/>
            </a:pPr>
            <a:r>
              <a:rPr lang="en-US" altLang="zh-CN" b="0" i="0" dirty="0">
                <a:solidFill>
                  <a:srgbClr val="060607"/>
                </a:solidFill>
                <a:effectLst/>
                <a:latin typeface="-apple-system"/>
              </a:rPr>
              <a:t>I2C</a:t>
            </a:r>
            <a:r>
              <a:rPr lang="zh-CN" altLang="en-US" b="0" i="0" dirty="0">
                <a:solidFill>
                  <a:srgbClr val="060607"/>
                </a:solidFill>
                <a:effectLst/>
                <a:latin typeface="-apple-system"/>
              </a:rPr>
              <a:t>驱动程序是与特定</a:t>
            </a:r>
            <a:r>
              <a:rPr lang="en-US" altLang="zh-CN" b="0" i="0" dirty="0">
                <a:solidFill>
                  <a:srgbClr val="060607"/>
                </a:solidFill>
                <a:effectLst/>
                <a:latin typeface="-apple-system"/>
              </a:rPr>
              <a:t>I2C</a:t>
            </a:r>
            <a:r>
              <a:rPr lang="zh-CN" altLang="en-US" b="0" i="0" dirty="0">
                <a:solidFill>
                  <a:srgbClr val="060607"/>
                </a:solidFill>
                <a:effectLst/>
                <a:latin typeface="-apple-system"/>
              </a:rPr>
              <a:t>设备通信的软件组件。</a:t>
            </a:r>
          </a:p>
          <a:p>
            <a:pPr marL="742950" lvl="1" indent="-285750" algn="l">
              <a:buFont typeface="Arial" panose="020B0604020202020204" pitchFamily="34" charset="0"/>
              <a:buChar char="•"/>
            </a:pPr>
            <a:r>
              <a:rPr lang="zh-CN" altLang="en-US" b="0" i="0" dirty="0">
                <a:solidFill>
                  <a:srgbClr val="060607"/>
                </a:solidFill>
                <a:effectLst/>
                <a:latin typeface="-apple-system"/>
              </a:rPr>
              <a:t>驱动程序注册到</a:t>
            </a:r>
            <a:r>
              <a:rPr lang="en-US" altLang="zh-CN" b="0" i="0" dirty="0">
                <a:solidFill>
                  <a:srgbClr val="060607"/>
                </a:solidFill>
                <a:effectLst/>
                <a:latin typeface="-apple-system"/>
              </a:rPr>
              <a:t>I2C</a:t>
            </a:r>
            <a:r>
              <a:rPr lang="zh-CN" altLang="en-US" b="0" i="0" dirty="0">
                <a:solidFill>
                  <a:srgbClr val="060607"/>
                </a:solidFill>
                <a:effectLst/>
                <a:latin typeface="-apple-system"/>
              </a:rPr>
              <a:t>核心，并使用</a:t>
            </a:r>
            <a:r>
              <a:rPr lang="en-US" altLang="zh-CN" b="0" i="0" dirty="0">
                <a:solidFill>
                  <a:srgbClr val="060607"/>
                </a:solidFill>
                <a:effectLst/>
                <a:latin typeface="-apple-system"/>
              </a:rPr>
              <a:t>I2C</a:t>
            </a:r>
            <a:r>
              <a:rPr lang="zh-CN" altLang="en-US" b="0" i="0" dirty="0">
                <a:solidFill>
                  <a:srgbClr val="060607"/>
                </a:solidFill>
                <a:effectLst/>
                <a:latin typeface="-apple-system"/>
              </a:rPr>
              <a:t>核心提供的函数与设备进行通信。</a:t>
            </a:r>
            <a:endParaRPr lang="en-US" altLang="zh-CN" dirty="0">
              <a:solidFill>
                <a:srgbClr val="060607"/>
              </a:solidFill>
              <a:latin typeface="-apple-system"/>
            </a:endParaRPr>
          </a:p>
          <a:p>
            <a:pPr marL="285750" indent="-285750" algn="l">
              <a:buFont typeface="Arial" panose="020B0604020202020204" pitchFamily="34" charset="0"/>
              <a:buChar char="•"/>
            </a:pPr>
            <a:r>
              <a:rPr lang="en-US" b="1" i="0" dirty="0">
                <a:solidFill>
                  <a:srgbClr val="222222"/>
                </a:solidFill>
                <a:effectLst/>
                <a:latin typeface="Source Sans Pro" panose="020B0503030403020204" pitchFamily="34" charset="0"/>
              </a:rPr>
              <a:t>I2C-core</a:t>
            </a:r>
            <a:r>
              <a:rPr lang="en-US" b="0" i="0" dirty="0">
                <a:solidFill>
                  <a:srgbClr val="222222"/>
                </a:solidFill>
                <a:effectLst/>
                <a:latin typeface="Source Sans Pro" panose="020B0503030403020204" pitchFamily="34" charset="0"/>
              </a:rPr>
              <a:t>: I2C-core </a:t>
            </a:r>
            <a:r>
              <a:rPr lang="zh-CN" altLang="en-US" b="0" i="0" dirty="0">
                <a:solidFill>
                  <a:srgbClr val="222222"/>
                </a:solidFill>
                <a:effectLst/>
                <a:latin typeface="Source Sans Pro" panose="020B0503030403020204" pitchFamily="34" charset="0"/>
              </a:rPr>
              <a:t>让 </a:t>
            </a:r>
            <a:r>
              <a:rPr lang="en-US" b="0" i="0" dirty="0">
                <a:solidFill>
                  <a:srgbClr val="222222"/>
                </a:solidFill>
                <a:effectLst/>
                <a:latin typeface="Source Sans Pro" panose="020B0503030403020204" pitchFamily="34" charset="0"/>
              </a:rPr>
              <a:t>I2C device </a:t>
            </a:r>
            <a:r>
              <a:rPr lang="zh-CN" altLang="en-US" b="0" i="0" dirty="0">
                <a:solidFill>
                  <a:srgbClr val="222222"/>
                </a:solidFill>
                <a:effectLst/>
                <a:latin typeface="Source Sans Pro" panose="020B0503030403020204" pitchFamily="34" charset="0"/>
              </a:rPr>
              <a:t>分出 </a:t>
            </a:r>
            <a:r>
              <a:rPr lang="en-US" b="0" i="0" dirty="0">
                <a:solidFill>
                  <a:srgbClr val="222222"/>
                </a:solidFill>
                <a:effectLst/>
                <a:latin typeface="Source Sans Pro" panose="020B0503030403020204" pitchFamily="34" charset="0"/>
              </a:rPr>
              <a:t>adapter </a:t>
            </a:r>
            <a:r>
              <a:rPr lang="zh-CN" altLang="en-US" b="0" i="0" dirty="0">
                <a:solidFill>
                  <a:srgbClr val="222222"/>
                </a:solidFill>
                <a:effectLst/>
                <a:latin typeface="Source Sans Pro" panose="020B0503030403020204" pitchFamily="34" charset="0"/>
              </a:rPr>
              <a:t>和 </a:t>
            </a:r>
            <a:r>
              <a:rPr lang="en-US" b="0" i="0" dirty="0">
                <a:solidFill>
                  <a:srgbClr val="222222"/>
                </a:solidFill>
                <a:effectLst/>
                <a:latin typeface="Source Sans Pro" panose="020B0503030403020204" pitchFamily="34" charset="0"/>
              </a:rPr>
              <a:t>client </a:t>
            </a:r>
            <a:r>
              <a:rPr lang="zh-CN" altLang="en-US" b="0" i="0" dirty="0">
                <a:solidFill>
                  <a:srgbClr val="222222"/>
                </a:solidFill>
                <a:effectLst/>
                <a:latin typeface="Source Sans Pro" panose="020B0503030403020204" pitchFamily="34" charset="0"/>
              </a:rPr>
              <a:t>两个独立的部份，向上 </a:t>
            </a:r>
            <a:r>
              <a:rPr lang="en-US" b="0" i="0" dirty="0">
                <a:solidFill>
                  <a:srgbClr val="222222"/>
                </a:solidFill>
                <a:effectLst/>
                <a:latin typeface="Source Sans Pro" panose="020B0503030403020204" pitchFamily="34" charset="0"/>
              </a:rPr>
              <a:t>client </a:t>
            </a:r>
            <a:r>
              <a:rPr lang="zh-CN" altLang="en-US" b="0" i="0" dirty="0">
                <a:solidFill>
                  <a:srgbClr val="222222"/>
                </a:solidFill>
                <a:effectLst/>
                <a:latin typeface="Source Sans Pro" panose="020B0503030403020204" pitchFamily="34" charset="0"/>
              </a:rPr>
              <a:t>可以提供 </a:t>
            </a:r>
            <a:r>
              <a:rPr lang="en-US" b="0" i="0" dirty="0">
                <a:solidFill>
                  <a:srgbClr val="222222"/>
                </a:solidFill>
                <a:effectLst/>
                <a:latin typeface="Source Sans Pro" panose="020B0503030403020204" pitchFamily="34" charset="0"/>
              </a:rPr>
              <a:t>I2C driver </a:t>
            </a:r>
            <a:r>
              <a:rPr lang="zh-CN" altLang="en-US" b="0" i="0" dirty="0">
                <a:solidFill>
                  <a:srgbClr val="222222"/>
                </a:solidFill>
                <a:effectLst/>
                <a:latin typeface="Source Sans Pro" panose="020B0503030403020204" pitchFamily="34" charset="0"/>
              </a:rPr>
              <a:t>对 </a:t>
            </a:r>
            <a:r>
              <a:rPr lang="en-US" b="0" i="0" dirty="0">
                <a:solidFill>
                  <a:srgbClr val="222222"/>
                </a:solidFill>
                <a:effectLst/>
                <a:latin typeface="Source Sans Pro" panose="020B0503030403020204" pitchFamily="34" charset="0"/>
              </a:rPr>
              <a:t>device </a:t>
            </a:r>
            <a:r>
              <a:rPr lang="zh-CN" altLang="en-US" b="0" i="0" dirty="0">
                <a:solidFill>
                  <a:srgbClr val="222222"/>
                </a:solidFill>
                <a:effectLst/>
                <a:latin typeface="Source Sans Pro" panose="020B0503030403020204" pitchFamily="34" charset="0"/>
              </a:rPr>
              <a:t>操作的一致界面。向下 </a:t>
            </a:r>
            <a:r>
              <a:rPr lang="en-US" b="0" i="0" dirty="0">
                <a:solidFill>
                  <a:srgbClr val="222222"/>
                </a:solidFill>
                <a:effectLst/>
                <a:latin typeface="Source Sans Pro" panose="020B0503030403020204" pitchFamily="34" charset="0"/>
              </a:rPr>
              <a:t>adapter </a:t>
            </a:r>
            <a:r>
              <a:rPr lang="zh-CN" altLang="en-US" b="0" i="0" dirty="0">
                <a:solidFill>
                  <a:srgbClr val="222222"/>
                </a:solidFill>
                <a:effectLst/>
                <a:latin typeface="Source Sans Pro" panose="020B0503030403020204" pitchFamily="34" charset="0"/>
              </a:rPr>
              <a:t>则可以定义与 </a:t>
            </a:r>
            <a:r>
              <a:rPr lang="en-US" b="0" i="0" dirty="0">
                <a:solidFill>
                  <a:srgbClr val="222222"/>
                </a:solidFill>
                <a:effectLst/>
                <a:latin typeface="Source Sans Pro" panose="020B0503030403020204" pitchFamily="34" charset="0"/>
              </a:rPr>
              <a:t>device hardware </a:t>
            </a:r>
            <a:r>
              <a:rPr lang="zh-CN" altLang="en-US" b="0" i="0" dirty="0">
                <a:solidFill>
                  <a:srgbClr val="222222"/>
                </a:solidFill>
                <a:effectLst/>
                <a:latin typeface="Source Sans Pro" panose="020B0503030403020204" pitchFamily="34" charset="0"/>
              </a:rPr>
              <a:t>的传输协议。</a:t>
            </a:r>
          </a:p>
          <a:p>
            <a:pPr marL="285750" indent="-285750" algn="l">
              <a:buFont typeface="Arial" panose="020B0604020202020204" pitchFamily="34" charset="0"/>
              <a:buChar char="•"/>
            </a:pPr>
            <a:r>
              <a:rPr lang="en-US" b="1" i="0" dirty="0">
                <a:solidFill>
                  <a:srgbClr val="222222"/>
                </a:solidFill>
                <a:effectLst/>
                <a:latin typeface="Source Sans Pro" panose="020B0503030403020204" pitchFamily="34" charset="0"/>
              </a:rPr>
              <a:t>I2C_client</a:t>
            </a:r>
            <a:r>
              <a:rPr lang="en-US" b="0" i="0" dirty="0">
                <a:solidFill>
                  <a:srgbClr val="222222"/>
                </a:solidFill>
                <a:effectLst/>
                <a:latin typeface="Source Sans Pro" panose="020B0503030403020204" pitchFamily="34" charset="0"/>
              </a:rPr>
              <a:t>: I2C_client </a:t>
            </a:r>
            <a:r>
              <a:rPr lang="zh-CN" altLang="en-US" b="0" i="0" dirty="0">
                <a:solidFill>
                  <a:srgbClr val="222222"/>
                </a:solidFill>
                <a:effectLst/>
                <a:latin typeface="Source Sans Pro" panose="020B0503030403020204" pitchFamily="34" charset="0"/>
              </a:rPr>
              <a:t>代表一个挂接在 </a:t>
            </a:r>
            <a:r>
              <a:rPr lang="en-US" b="0" i="0" dirty="0">
                <a:solidFill>
                  <a:srgbClr val="222222"/>
                </a:solidFill>
                <a:effectLst/>
                <a:latin typeface="Source Sans Pro" panose="020B0503030403020204" pitchFamily="34" charset="0"/>
              </a:rPr>
              <a:t>I2C bus </a:t>
            </a:r>
            <a:r>
              <a:rPr lang="zh-CN" altLang="en-US" b="0" i="0" dirty="0">
                <a:solidFill>
                  <a:srgbClr val="222222"/>
                </a:solidFill>
                <a:effectLst/>
                <a:latin typeface="Source Sans Pro" panose="020B0503030403020204" pitchFamily="34" charset="0"/>
              </a:rPr>
              <a:t>上的 </a:t>
            </a:r>
            <a:r>
              <a:rPr lang="en-US" b="0" i="0" dirty="0">
                <a:solidFill>
                  <a:srgbClr val="222222"/>
                </a:solidFill>
                <a:effectLst/>
                <a:latin typeface="Source Sans Pro" panose="020B0503030403020204" pitchFamily="34" charset="0"/>
              </a:rPr>
              <a:t>I2C device </a:t>
            </a:r>
            <a:r>
              <a:rPr lang="zh-CN" altLang="en-US" b="0" i="0" dirty="0">
                <a:solidFill>
                  <a:srgbClr val="222222"/>
                </a:solidFill>
                <a:effectLst/>
                <a:latin typeface="Source Sans Pro" panose="020B0503030403020204" pitchFamily="34" charset="0"/>
              </a:rPr>
              <a:t>实例，而 </a:t>
            </a:r>
            <a:r>
              <a:rPr lang="en-US" b="0" i="0" dirty="0">
                <a:solidFill>
                  <a:srgbClr val="222222"/>
                </a:solidFill>
                <a:effectLst/>
                <a:latin typeface="Source Sans Pro" panose="020B0503030403020204" pitchFamily="34" charset="0"/>
              </a:rPr>
              <a:t>I2C driver </a:t>
            </a:r>
            <a:r>
              <a:rPr lang="zh-CN" altLang="en-US" b="0" i="0" dirty="0">
                <a:solidFill>
                  <a:srgbClr val="222222"/>
                </a:solidFill>
                <a:effectLst/>
                <a:latin typeface="Source Sans Pro" panose="020B0503030403020204" pitchFamily="34" charset="0"/>
              </a:rPr>
              <a:t>则是该 </a:t>
            </a:r>
            <a:r>
              <a:rPr lang="en-US" b="0" i="0" dirty="0">
                <a:solidFill>
                  <a:srgbClr val="222222"/>
                </a:solidFill>
                <a:effectLst/>
                <a:latin typeface="Source Sans Pro" panose="020B0503030403020204" pitchFamily="34" charset="0"/>
              </a:rPr>
              <a:t>client </a:t>
            </a:r>
            <a:r>
              <a:rPr lang="zh-CN" altLang="en-US" b="0" i="0" dirty="0">
                <a:solidFill>
                  <a:srgbClr val="222222"/>
                </a:solidFill>
                <a:effectLst/>
                <a:latin typeface="Source Sans Pro" panose="020B0503030403020204" pitchFamily="34" charset="0"/>
              </a:rPr>
              <a:t>的 </a:t>
            </a:r>
            <a:r>
              <a:rPr lang="en-US" b="0" i="0" dirty="0">
                <a:solidFill>
                  <a:srgbClr val="222222"/>
                </a:solidFill>
                <a:effectLst/>
                <a:latin typeface="Source Sans Pro" panose="020B0503030403020204" pitchFamily="34" charset="0"/>
              </a:rPr>
              <a:t>device driver。</a:t>
            </a:r>
          </a:p>
          <a:p>
            <a:pPr marL="285750" indent="-285750" algn="l">
              <a:buFont typeface="Arial" panose="020B0604020202020204" pitchFamily="34" charset="0"/>
              <a:buChar char="•"/>
            </a:pPr>
            <a:r>
              <a:rPr lang="en-US" b="1" i="0" dirty="0">
                <a:solidFill>
                  <a:srgbClr val="222222"/>
                </a:solidFill>
                <a:effectLst/>
                <a:latin typeface="Source Sans Pro" panose="020B0503030403020204" pitchFamily="34" charset="0"/>
              </a:rPr>
              <a:t>I2C-dev</a:t>
            </a:r>
            <a:r>
              <a:rPr lang="en-US" b="0" i="0" dirty="0">
                <a:solidFill>
                  <a:srgbClr val="222222"/>
                </a:solidFill>
                <a:effectLst/>
                <a:latin typeface="Source Sans Pro" panose="020B0503030403020204" pitchFamily="34" charset="0"/>
              </a:rPr>
              <a:t>: I2C-dev </a:t>
            </a:r>
            <a:r>
              <a:rPr lang="zh-CN" altLang="en-US" b="0" i="0" dirty="0">
                <a:solidFill>
                  <a:srgbClr val="222222"/>
                </a:solidFill>
                <a:effectLst/>
                <a:latin typeface="Source Sans Pro" panose="020B0503030403020204" pitchFamily="34" charset="0"/>
              </a:rPr>
              <a:t>并不是整个 </a:t>
            </a:r>
            <a:r>
              <a:rPr lang="en-US" b="0" i="0" dirty="0">
                <a:solidFill>
                  <a:srgbClr val="222222"/>
                </a:solidFill>
                <a:effectLst/>
                <a:latin typeface="Source Sans Pro" panose="020B0503030403020204" pitchFamily="34" charset="0"/>
              </a:rPr>
              <a:t>I2C subsystem </a:t>
            </a:r>
            <a:r>
              <a:rPr lang="zh-CN" altLang="en-US" b="0" i="0" dirty="0">
                <a:solidFill>
                  <a:srgbClr val="222222"/>
                </a:solidFill>
                <a:effectLst/>
                <a:latin typeface="Source Sans Pro" panose="020B0503030403020204" pitchFamily="34" charset="0"/>
              </a:rPr>
              <a:t>中必要的部件，它是 </a:t>
            </a:r>
            <a:r>
              <a:rPr lang="en-US" b="0" i="0" dirty="0">
                <a:solidFill>
                  <a:srgbClr val="222222"/>
                </a:solidFill>
                <a:effectLst/>
                <a:latin typeface="Source Sans Pro" panose="020B0503030403020204" pitchFamily="34" charset="0"/>
              </a:rPr>
              <a:t>Linux </a:t>
            </a:r>
            <a:r>
              <a:rPr lang="zh-CN" altLang="en-US" b="0" i="0" dirty="0">
                <a:solidFill>
                  <a:srgbClr val="222222"/>
                </a:solidFill>
                <a:effectLst/>
                <a:latin typeface="Source Sans Pro" panose="020B0503030403020204" pitchFamily="34" charset="0"/>
              </a:rPr>
              <a:t>中对 </a:t>
            </a:r>
            <a:r>
              <a:rPr lang="en-US" b="0" i="0" dirty="0">
                <a:solidFill>
                  <a:srgbClr val="222222"/>
                </a:solidFill>
                <a:effectLst/>
                <a:latin typeface="Source Sans Pro" panose="020B0503030403020204" pitchFamily="34" charset="0"/>
              </a:rPr>
              <a:t>I2C </a:t>
            </a:r>
            <a:r>
              <a:rPr lang="zh-CN" altLang="en-US" b="0" i="0" dirty="0">
                <a:solidFill>
                  <a:srgbClr val="222222"/>
                </a:solidFill>
                <a:effectLst/>
                <a:latin typeface="Source Sans Pro" panose="020B0503030403020204" pitchFamily="34" charset="0"/>
              </a:rPr>
              <a:t>操作的 </a:t>
            </a:r>
            <a:r>
              <a:rPr lang="en-US" b="0" i="0" dirty="0">
                <a:solidFill>
                  <a:srgbClr val="222222"/>
                </a:solidFill>
                <a:effectLst/>
                <a:latin typeface="Source Sans Pro" panose="020B0503030403020204" pitchFamily="34" charset="0"/>
              </a:rPr>
              <a:t>char device </a:t>
            </a:r>
            <a:r>
              <a:rPr lang="zh-CN" altLang="en-US" b="0" i="0" dirty="0">
                <a:solidFill>
                  <a:srgbClr val="222222"/>
                </a:solidFill>
                <a:effectLst/>
                <a:latin typeface="Source Sans Pro" panose="020B0503030403020204" pitchFamily="34" charset="0"/>
              </a:rPr>
              <a:t>封装，提供了 </a:t>
            </a:r>
            <a:r>
              <a:rPr lang="en-US" b="0" i="0" dirty="0">
                <a:solidFill>
                  <a:srgbClr val="222222"/>
                </a:solidFill>
                <a:effectLst/>
                <a:latin typeface="Source Sans Pro" panose="020B0503030403020204" pitchFamily="34" charset="0"/>
              </a:rPr>
              <a:t>user space </a:t>
            </a:r>
            <a:r>
              <a:rPr lang="zh-CN" altLang="en-US" b="0" i="0" dirty="0">
                <a:solidFill>
                  <a:srgbClr val="222222"/>
                </a:solidFill>
                <a:effectLst/>
                <a:latin typeface="Source Sans Pro" panose="020B0503030403020204" pitchFamily="34" charset="0"/>
              </a:rPr>
              <a:t>对 </a:t>
            </a:r>
            <a:r>
              <a:rPr lang="en-US" b="0" i="0" dirty="0">
                <a:solidFill>
                  <a:srgbClr val="222222"/>
                </a:solidFill>
                <a:effectLst/>
                <a:latin typeface="Source Sans Pro" panose="020B0503030403020204" pitchFamily="34" charset="0"/>
              </a:rPr>
              <a:t>I2C device </a:t>
            </a:r>
            <a:r>
              <a:rPr lang="zh-CN" altLang="en-US" b="0" i="0" dirty="0">
                <a:solidFill>
                  <a:srgbClr val="222222"/>
                </a:solidFill>
                <a:effectLst/>
                <a:latin typeface="Source Sans Pro" panose="020B0503030403020204" pitchFamily="34" charset="0"/>
              </a:rPr>
              <a:t>操作的接口。</a:t>
            </a:r>
            <a:endParaRPr lang="en-US" altLang="zh-CN" b="0" i="0" dirty="0">
              <a:solidFill>
                <a:srgbClr val="222222"/>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222222"/>
                </a:solidFill>
                <a:effectLst/>
                <a:latin typeface="Source Sans Pro" panose="020B0503030403020204" pitchFamily="34" charset="0"/>
              </a:rPr>
              <a:t>I2C </a:t>
            </a:r>
            <a:r>
              <a:rPr lang="en-US" b="1" i="0" dirty="0" err="1">
                <a:solidFill>
                  <a:srgbClr val="222222"/>
                </a:solidFill>
                <a:effectLst/>
                <a:latin typeface="Source Sans Pro" panose="020B0503030403020204" pitchFamily="34" charset="0"/>
              </a:rPr>
              <a:t>adatpter</a:t>
            </a:r>
            <a:r>
              <a:rPr lang="en-US" b="1" i="0" dirty="0">
                <a:solidFill>
                  <a:srgbClr val="222222"/>
                </a:solidFill>
                <a:effectLst/>
                <a:latin typeface="Source Sans Pro" panose="020B0503030403020204" pitchFamily="34" charset="0"/>
              </a:rPr>
              <a:t>/</a:t>
            </a:r>
            <a:r>
              <a:rPr lang="en-US" b="1" i="0" dirty="0" err="1">
                <a:solidFill>
                  <a:srgbClr val="222222"/>
                </a:solidFill>
                <a:effectLst/>
                <a:latin typeface="Source Sans Pro" panose="020B0503030403020204" pitchFamily="34" charset="0"/>
              </a:rPr>
              <a:t>algorithem</a:t>
            </a:r>
            <a:r>
              <a:rPr lang="en-US" b="0" i="0" dirty="0">
                <a:solidFill>
                  <a:srgbClr val="222222"/>
                </a:solidFill>
                <a:effectLst/>
                <a:latin typeface="Source Sans Pro" panose="020B0503030403020204" pitchFamily="34" charset="0"/>
              </a:rPr>
              <a:t>: </a:t>
            </a:r>
          </a:p>
          <a:p>
            <a:pPr marL="742950" lvl="1" indent="-285750">
              <a:buFont typeface="Arial" panose="020B0604020202020204" pitchFamily="34" charset="0"/>
              <a:buChar char="•"/>
            </a:pPr>
            <a:r>
              <a:rPr lang="en-US" b="0" i="0" dirty="0">
                <a:solidFill>
                  <a:srgbClr val="222222"/>
                </a:solidFill>
                <a:effectLst/>
                <a:latin typeface="Source Sans Pro" panose="020B0503030403020204" pitchFamily="34" charset="0"/>
              </a:rPr>
              <a:t>I2C </a:t>
            </a:r>
            <a:r>
              <a:rPr lang="en-US" b="0" i="0" dirty="0" err="1">
                <a:solidFill>
                  <a:srgbClr val="222222"/>
                </a:solidFill>
                <a:effectLst/>
                <a:latin typeface="Source Sans Pro" panose="020B0503030403020204" pitchFamily="34" charset="0"/>
              </a:rPr>
              <a:t>adpater</a:t>
            </a:r>
            <a:r>
              <a:rPr lang="en-US" b="0" i="0" dirty="0">
                <a:solidFill>
                  <a:srgbClr val="222222"/>
                </a:solidFill>
                <a:effectLst/>
                <a:latin typeface="Source Sans Pro" panose="020B0503030403020204" pitchFamily="34" charset="0"/>
              </a:rPr>
              <a:t> </a:t>
            </a:r>
            <a:r>
              <a:rPr lang="zh-CN" altLang="en-US" b="0" i="0" dirty="0">
                <a:solidFill>
                  <a:srgbClr val="222222"/>
                </a:solidFill>
                <a:effectLst/>
                <a:latin typeface="Source Sans Pro" panose="020B0503030403020204" pitchFamily="34" charset="0"/>
              </a:rPr>
              <a:t>抽象出 </a:t>
            </a:r>
            <a:r>
              <a:rPr lang="en-US" b="0" i="0" dirty="0">
                <a:solidFill>
                  <a:srgbClr val="222222"/>
                </a:solidFill>
                <a:effectLst/>
                <a:latin typeface="Source Sans Pro" panose="020B0503030403020204" pitchFamily="34" charset="0"/>
              </a:rPr>
              <a:t>I2C controller </a:t>
            </a:r>
            <a:r>
              <a:rPr lang="zh-CN" altLang="en-US" b="0" i="0" dirty="0">
                <a:solidFill>
                  <a:srgbClr val="222222"/>
                </a:solidFill>
                <a:effectLst/>
                <a:latin typeface="Source Sans Pro" panose="020B0503030403020204" pitchFamily="34" charset="0"/>
              </a:rPr>
              <a:t>的操作接口，其中包含的关键结构</a:t>
            </a:r>
            <a:endParaRPr lang="en-US" altLang="zh-CN" b="0" i="0" dirty="0">
              <a:solidFill>
                <a:srgbClr val="222222"/>
              </a:solidFill>
              <a:effectLst/>
              <a:latin typeface="Source Sans Pro" panose="020B0503030403020204" pitchFamily="34" charset="0"/>
            </a:endParaRPr>
          </a:p>
          <a:p>
            <a:pPr marL="742950" lvl="1" indent="-285750">
              <a:buFont typeface="Arial" panose="020B0604020202020204" pitchFamily="34" charset="0"/>
              <a:buChar char="•"/>
            </a:pPr>
            <a:r>
              <a:rPr lang="zh-CN" altLang="en-US" b="0" i="0" dirty="0">
                <a:solidFill>
                  <a:srgbClr val="222222"/>
                </a:solidFill>
                <a:effectLst/>
                <a:latin typeface="Source Sans Pro" panose="020B0503030403020204" pitchFamily="34" charset="0"/>
              </a:rPr>
              <a:t> </a:t>
            </a:r>
            <a:r>
              <a:rPr lang="en-US" b="0" i="0" dirty="0">
                <a:solidFill>
                  <a:srgbClr val="222222"/>
                </a:solidFill>
                <a:effectLst/>
                <a:latin typeface="Source Sans Pro" panose="020B0503030403020204" pitchFamily="34" charset="0"/>
              </a:rPr>
              <a:t>I2C algorithm </a:t>
            </a:r>
            <a:r>
              <a:rPr lang="zh-CN" altLang="en-US" b="0" i="0" dirty="0">
                <a:solidFill>
                  <a:srgbClr val="222222"/>
                </a:solidFill>
                <a:effectLst/>
                <a:latin typeface="Source Sans Pro" panose="020B0503030403020204" pitchFamily="34" charset="0"/>
              </a:rPr>
              <a:t>定义 </a:t>
            </a:r>
            <a:r>
              <a:rPr lang="en-US" b="0" i="0" dirty="0">
                <a:solidFill>
                  <a:srgbClr val="222222"/>
                </a:solidFill>
                <a:effectLst/>
                <a:latin typeface="Source Sans Pro" panose="020B0503030403020204" pitchFamily="34" charset="0"/>
              </a:rPr>
              <a:t>I2C </a:t>
            </a:r>
            <a:r>
              <a:rPr lang="zh-CN" altLang="en-US" b="0" i="0" dirty="0">
                <a:solidFill>
                  <a:srgbClr val="222222"/>
                </a:solidFill>
                <a:effectLst/>
                <a:latin typeface="Source Sans Pro" panose="020B0503030403020204" pitchFamily="34" charset="0"/>
              </a:rPr>
              <a:t>的通信方法，并提供与 </a:t>
            </a:r>
            <a:r>
              <a:rPr lang="en-US" b="0" i="0" dirty="0">
                <a:solidFill>
                  <a:srgbClr val="222222"/>
                </a:solidFill>
                <a:effectLst/>
                <a:latin typeface="Source Sans Pro" panose="020B0503030403020204" pitchFamily="34" charset="0"/>
              </a:rPr>
              <a:t>device </a:t>
            </a:r>
            <a:r>
              <a:rPr lang="zh-CN" altLang="en-US" b="0" i="0" dirty="0">
                <a:solidFill>
                  <a:srgbClr val="222222"/>
                </a:solidFill>
                <a:effectLst/>
                <a:latin typeface="Source Sans Pro" panose="020B0503030403020204" pitchFamily="34" charset="0"/>
              </a:rPr>
              <a:t>之间交换讯息的协议。</a:t>
            </a:r>
          </a:p>
          <a:p>
            <a:pPr marL="285750" indent="-285750" algn="l">
              <a:buFont typeface="Arial" panose="020B0604020202020204" pitchFamily="34" charset="0"/>
              <a:buChar char="•"/>
            </a:pPr>
            <a:r>
              <a:rPr lang="en-US" b="1" i="0" dirty="0">
                <a:solidFill>
                  <a:srgbClr val="222222"/>
                </a:solidFill>
                <a:effectLst/>
                <a:latin typeface="Source Sans Pro" panose="020B0503030403020204" pitchFamily="34" charset="0"/>
              </a:rPr>
              <a:t>I2C platform driver/I2C platform device</a:t>
            </a:r>
            <a:r>
              <a:rPr lang="en-US" b="0" i="0" dirty="0">
                <a:solidFill>
                  <a:srgbClr val="222222"/>
                </a:solidFill>
                <a:effectLst/>
                <a:latin typeface="Source Sans Pro" panose="020B0503030403020204" pitchFamily="34" charset="0"/>
              </a:rPr>
              <a:t>: </a:t>
            </a:r>
            <a:r>
              <a:rPr lang="zh-CN" altLang="en-US" b="0" i="0" dirty="0">
                <a:solidFill>
                  <a:srgbClr val="222222"/>
                </a:solidFill>
                <a:effectLst/>
                <a:latin typeface="Source Sans Pro" panose="020B0503030403020204" pitchFamily="34" charset="0"/>
              </a:rPr>
              <a:t>有些装置 </a:t>
            </a:r>
            <a:r>
              <a:rPr lang="en-US" b="0" i="0" dirty="0">
                <a:solidFill>
                  <a:srgbClr val="222222"/>
                </a:solidFill>
                <a:effectLst/>
                <a:latin typeface="Source Sans Pro" panose="020B0503030403020204" pitchFamily="34" charset="0"/>
              </a:rPr>
              <a:t>CPU </a:t>
            </a:r>
            <a:r>
              <a:rPr lang="zh-CN" altLang="en-US" b="0" i="0" dirty="0">
                <a:solidFill>
                  <a:srgbClr val="222222"/>
                </a:solidFill>
                <a:effectLst/>
                <a:latin typeface="Source Sans Pro" panose="020B0503030403020204" pitchFamily="34" charset="0"/>
              </a:rPr>
              <a:t>无法透过硬件机制找寻到的。这些 </a:t>
            </a:r>
            <a:r>
              <a:rPr lang="en-US" b="0" i="0" dirty="0">
                <a:solidFill>
                  <a:srgbClr val="222222"/>
                </a:solidFill>
                <a:effectLst/>
                <a:latin typeface="Source Sans Pro" panose="020B0503030403020204" pitchFamily="34" charset="0"/>
              </a:rPr>
              <a:t>device </a:t>
            </a:r>
            <a:r>
              <a:rPr lang="zh-CN" altLang="en-US" b="0" i="0" dirty="0">
                <a:solidFill>
                  <a:srgbClr val="222222"/>
                </a:solidFill>
                <a:effectLst/>
                <a:latin typeface="Source Sans Pro" panose="020B0503030403020204" pitchFamily="34" charset="0"/>
              </a:rPr>
              <a:t>通常是我们预先知道其存在，再由软件层设定进行连接。它们通常可以透过 </a:t>
            </a:r>
            <a:r>
              <a:rPr lang="en-US" b="0" i="0" dirty="0">
                <a:solidFill>
                  <a:srgbClr val="222222"/>
                </a:solidFill>
                <a:effectLst/>
                <a:latin typeface="Source Sans Pro" panose="020B0503030403020204" pitchFamily="34" charset="0"/>
              </a:rPr>
              <a:t>CPU bus </a:t>
            </a:r>
            <a:r>
              <a:rPr lang="zh-CN" altLang="en-US" b="0" i="0" dirty="0">
                <a:solidFill>
                  <a:srgbClr val="222222"/>
                </a:solidFill>
                <a:effectLst/>
                <a:latin typeface="Source Sans Pro" panose="020B0503030403020204" pitchFamily="34" charset="0"/>
              </a:rPr>
              <a:t>直接被存取。</a:t>
            </a:r>
            <a:r>
              <a:rPr lang="en-US" b="0" i="0" dirty="0">
                <a:solidFill>
                  <a:srgbClr val="222222"/>
                </a:solidFill>
                <a:effectLst/>
                <a:latin typeface="Source Sans Pro" panose="020B0503030403020204" pitchFamily="34" charset="0"/>
              </a:rPr>
              <a:t>Linux </a:t>
            </a:r>
            <a:r>
              <a:rPr lang="zh-CN" altLang="en-US" b="0" i="0" dirty="0">
                <a:solidFill>
                  <a:srgbClr val="222222"/>
                </a:solidFill>
                <a:effectLst/>
                <a:latin typeface="Source Sans Pro" panose="020B0503030403020204" pitchFamily="34" charset="0"/>
              </a:rPr>
              <a:t>系统中对这些 </a:t>
            </a:r>
            <a:r>
              <a:rPr lang="en-US" b="0" i="0" dirty="0">
                <a:solidFill>
                  <a:srgbClr val="222222"/>
                </a:solidFill>
                <a:effectLst/>
                <a:latin typeface="Source Sans Pro" panose="020B0503030403020204" pitchFamily="34" charset="0"/>
              </a:rPr>
              <a:t>device </a:t>
            </a:r>
            <a:r>
              <a:rPr lang="zh-CN" altLang="en-US" b="0" i="0" dirty="0">
                <a:solidFill>
                  <a:srgbClr val="222222"/>
                </a:solidFill>
                <a:effectLst/>
                <a:latin typeface="Source Sans Pro" panose="020B0503030403020204" pitchFamily="34" charset="0"/>
              </a:rPr>
              <a:t>抽象出了 </a:t>
            </a:r>
            <a:r>
              <a:rPr lang="en-US" b="0" i="0" dirty="0" err="1">
                <a:solidFill>
                  <a:srgbClr val="222222"/>
                </a:solidFill>
                <a:effectLst/>
                <a:latin typeface="Source Sans Pro" panose="020B0503030403020204" pitchFamily="34" charset="0"/>
              </a:rPr>
              <a:t>paltform</a:t>
            </a:r>
            <a:r>
              <a:rPr lang="en-US" b="0" i="0" dirty="0">
                <a:solidFill>
                  <a:srgbClr val="222222"/>
                </a:solidFill>
                <a:effectLst/>
                <a:latin typeface="Source Sans Pro" panose="020B0503030403020204" pitchFamily="34" charset="0"/>
              </a:rPr>
              <a:t> </a:t>
            </a:r>
            <a:r>
              <a:rPr lang="zh-CN" altLang="en-US" b="0" i="0" dirty="0">
                <a:solidFill>
                  <a:srgbClr val="222222"/>
                </a:solidFill>
                <a:effectLst/>
                <a:latin typeface="Source Sans Pro" panose="020B0503030403020204" pitchFamily="34" charset="0"/>
              </a:rPr>
              <a:t>的概念。这些 </a:t>
            </a:r>
            <a:r>
              <a:rPr lang="en-US" b="0" i="0" dirty="0">
                <a:solidFill>
                  <a:srgbClr val="222222"/>
                </a:solidFill>
                <a:effectLst/>
                <a:latin typeface="Source Sans Pro" panose="020B0503030403020204" pitchFamily="34" charset="0"/>
              </a:rPr>
              <a:t>device </a:t>
            </a:r>
            <a:r>
              <a:rPr lang="zh-CN" altLang="en-US" b="0" i="0" dirty="0">
                <a:solidFill>
                  <a:srgbClr val="222222"/>
                </a:solidFill>
                <a:effectLst/>
                <a:latin typeface="Source Sans Pro" panose="020B0503030403020204" pitchFamily="34" charset="0"/>
              </a:rPr>
              <a:t>被称为 </a:t>
            </a:r>
            <a:r>
              <a:rPr lang="en-US" b="0" i="0" dirty="0">
                <a:solidFill>
                  <a:srgbClr val="222222"/>
                </a:solidFill>
                <a:effectLst/>
                <a:latin typeface="Source Sans Pro" panose="020B0503030403020204" pitchFamily="34" charset="0"/>
              </a:rPr>
              <a:t>platform device，</a:t>
            </a:r>
            <a:r>
              <a:rPr lang="zh-CN" altLang="en-US" b="0" i="0" dirty="0">
                <a:solidFill>
                  <a:srgbClr val="222222"/>
                </a:solidFill>
                <a:effectLst/>
                <a:latin typeface="Source Sans Pro" panose="020B0503030403020204" pitchFamily="34" charset="0"/>
              </a:rPr>
              <a:t>后者挂在虚拟的 </a:t>
            </a:r>
            <a:r>
              <a:rPr lang="en-US" altLang="zh-CN" b="0" i="0" dirty="0">
                <a:solidFill>
                  <a:srgbClr val="222222"/>
                </a:solidFill>
                <a:effectLst/>
                <a:latin typeface="Source Sans Pro" panose="020B0503030403020204" pitchFamily="34" charset="0"/>
              </a:rPr>
              <a:t>"</a:t>
            </a:r>
            <a:r>
              <a:rPr lang="en-US" b="0" i="0" dirty="0">
                <a:solidFill>
                  <a:srgbClr val="222222"/>
                </a:solidFill>
                <a:effectLst/>
                <a:latin typeface="Source Sans Pro" panose="020B0503030403020204" pitchFamily="34" charset="0"/>
              </a:rPr>
              <a:t>platform bus" </a:t>
            </a:r>
            <a:r>
              <a:rPr lang="zh-CN" altLang="en-US" b="0" i="0" dirty="0">
                <a:solidFill>
                  <a:srgbClr val="222222"/>
                </a:solidFill>
                <a:effectLst/>
                <a:latin typeface="Source Sans Pro" panose="020B0503030403020204" pitchFamily="34" charset="0"/>
              </a:rPr>
              <a:t>之上， </a:t>
            </a:r>
            <a:r>
              <a:rPr lang="en-US" b="0" i="0" dirty="0">
                <a:solidFill>
                  <a:srgbClr val="222222"/>
                </a:solidFill>
                <a:effectLst/>
                <a:latin typeface="Source Sans Pro" panose="020B0503030403020204" pitchFamily="34" charset="0"/>
              </a:rPr>
              <a:t>platform driver </a:t>
            </a:r>
            <a:r>
              <a:rPr lang="zh-CN" altLang="en-US" b="0" i="0" dirty="0">
                <a:solidFill>
                  <a:srgbClr val="222222"/>
                </a:solidFill>
                <a:effectLst/>
                <a:latin typeface="Source Sans Pro" panose="020B0503030403020204" pitchFamily="34" charset="0"/>
              </a:rPr>
              <a:t>可以藉由 </a:t>
            </a:r>
            <a:r>
              <a:rPr lang="en-US" b="0" i="0" dirty="0">
                <a:solidFill>
                  <a:srgbClr val="222222"/>
                </a:solidFill>
                <a:effectLst/>
                <a:latin typeface="Source Sans Pro" panose="020B0503030403020204" pitchFamily="34" charset="0"/>
              </a:rPr>
              <a:t>platform bus </a:t>
            </a:r>
            <a:r>
              <a:rPr lang="zh-CN" altLang="en-US" b="0" i="0" dirty="0">
                <a:solidFill>
                  <a:srgbClr val="222222"/>
                </a:solidFill>
                <a:effectLst/>
                <a:latin typeface="Source Sans Pro" panose="020B0503030403020204" pitchFamily="34" charset="0"/>
              </a:rPr>
              <a:t>找到对应的 </a:t>
            </a:r>
            <a:r>
              <a:rPr lang="en-US" b="0" i="0" dirty="0">
                <a:solidFill>
                  <a:srgbClr val="222222"/>
                </a:solidFill>
                <a:effectLst/>
                <a:latin typeface="Source Sans Pro" panose="020B0503030403020204" pitchFamily="34" charset="0"/>
              </a:rPr>
              <a:t>device。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1964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Application</a:t>
            </a:r>
            <a:r>
              <a:rPr lang="zh-CN" altLang="en-US" sz="3200" b="0" dirty="0">
                <a:solidFill>
                  <a:srgbClr val="000000"/>
                </a:solidFill>
                <a:effectLst/>
                <a:latin typeface="Consolas" panose="020B0609020204030204" pitchFamily="49" charset="0"/>
              </a:rPr>
              <a:t>（</a:t>
            </a:r>
            <a:r>
              <a:rPr lang="en-US" sz="3200" dirty="0">
                <a:solidFill>
                  <a:srgbClr val="000000"/>
                </a:solidFill>
                <a:latin typeface="Consolas" panose="020B0609020204030204" pitchFamily="49" charset="0"/>
              </a:rPr>
              <a:t>I2C subsystem</a:t>
            </a:r>
            <a:r>
              <a:rPr lang="zh-CN" altLang="en-US" sz="3200" b="0" dirty="0">
                <a:solidFill>
                  <a:srgbClr val="000000"/>
                </a:solidFill>
                <a:effectLst/>
                <a:latin typeface="Consolas" panose="020B0609020204030204" pitchFamily="49" charset="0"/>
              </a:rPr>
              <a:t>）</a:t>
            </a:r>
            <a:endParaRPr lang="en-US" dirty="0"/>
          </a:p>
        </p:txBody>
      </p:sp>
      <p:pic>
        <p:nvPicPr>
          <p:cNvPr id="8" name="圖片 7">
            <a:extLst>
              <a:ext uri="{FF2B5EF4-FFF2-40B4-BE49-F238E27FC236}">
                <a16:creationId xmlns:a16="http://schemas.microsoft.com/office/drawing/2014/main" id="{264068CF-B0DD-4DB4-B997-2D9E48C9BD4A}"/>
              </a:ext>
            </a:extLst>
          </p:cNvPr>
          <p:cNvPicPr>
            <a:picLocks noChangeAspect="1"/>
          </p:cNvPicPr>
          <p:nvPr/>
        </p:nvPicPr>
        <p:blipFill>
          <a:blip r:embed="rId2"/>
          <a:stretch>
            <a:fillRect/>
          </a:stretch>
        </p:blipFill>
        <p:spPr>
          <a:xfrm>
            <a:off x="0" y="920899"/>
            <a:ext cx="5709755" cy="5949280"/>
          </a:xfrm>
          <a:prstGeom prst="rect">
            <a:avLst/>
          </a:prstGeom>
        </p:spPr>
      </p:pic>
      <p:pic>
        <p:nvPicPr>
          <p:cNvPr id="10" name="圖片 9">
            <a:extLst>
              <a:ext uri="{FF2B5EF4-FFF2-40B4-BE49-F238E27FC236}">
                <a16:creationId xmlns:a16="http://schemas.microsoft.com/office/drawing/2014/main" id="{45A90456-9DF0-4BFE-AF54-8EACBE1A392D}"/>
              </a:ext>
            </a:extLst>
          </p:cNvPr>
          <p:cNvPicPr>
            <a:picLocks noChangeAspect="1"/>
          </p:cNvPicPr>
          <p:nvPr/>
        </p:nvPicPr>
        <p:blipFill>
          <a:blip r:embed="rId3"/>
          <a:stretch>
            <a:fillRect/>
          </a:stretch>
        </p:blipFill>
        <p:spPr>
          <a:xfrm>
            <a:off x="5714263" y="3857755"/>
            <a:ext cx="6482673" cy="3000245"/>
          </a:xfrm>
          <a:prstGeom prst="rect">
            <a:avLst/>
          </a:prstGeom>
        </p:spPr>
      </p:pic>
      <p:sp>
        <p:nvSpPr>
          <p:cNvPr id="12" name="文字方塊 11">
            <a:extLst>
              <a:ext uri="{FF2B5EF4-FFF2-40B4-BE49-F238E27FC236}">
                <a16:creationId xmlns:a16="http://schemas.microsoft.com/office/drawing/2014/main" id="{071E2A41-E845-485C-B2DA-1C76B6E67E71}"/>
              </a:ext>
            </a:extLst>
          </p:cNvPr>
          <p:cNvSpPr txBox="1"/>
          <p:nvPr/>
        </p:nvSpPr>
        <p:spPr>
          <a:xfrm>
            <a:off x="5951984" y="3291380"/>
            <a:ext cx="2529656" cy="369332"/>
          </a:xfrm>
          <a:prstGeom prst="rect">
            <a:avLst/>
          </a:prstGeom>
          <a:noFill/>
        </p:spPr>
        <p:txBody>
          <a:bodyPr wrap="square">
            <a:spAutoFit/>
          </a:bodyPr>
          <a:lstStyle/>
          <a:p>
            <a:r>
              <a:rPr lang="en-US" b="0" i="0" dirty="0">
                <a:solidFill>
                  <a:srgbClr val="0000FF"/>
                </a:solidFill>
                <a:effectLst/>
                <a:latin typeface="Source Sans Pro" panose="020B0503030403020204" pitchFamily="34" charset="0"/>
              </a:rPr>
              <a:t>drivers/</a:t>
            </a:r>
            <a:r>
              <a:rPr lang="en-US" b="0" i="0" dirty="0" err="1">
                <a:solidFill>
                  <a:srgbClr val="0000FF"/>
                </a:solidFill>
                <a:effectLst/>
                <a:latin typeface="Source Sans Pro" panose="020B0503030403020204" pitchFamily="34" charset="0"/>
              </a:rPr>
              <a:t>rct</a:t>
            </a:r>
            <a:r>
              <a:rPr lang="en-US" b="0" i="0" dirty="0">
                <a:solidFill>
                  <a:srgbClr val="0000FF"/>
                </a:solidFill>
                <a:effectLst/>
                <a:latin typeface="Source Sans Pro" panose="020B0503030403020204" pitchFamily="34" charset="0"/>
              </a:rPr>
              <a:t>/rtc-ds1672.c</a:t>
            </a:r>
            <a:endParaRPr lang="en-US" dirty="0"/>
          </a:p>
        </p:txBody>
      </p:sp>
      <p:sp>
        <p:nvSpPr>
          <p:cNvPr id="14" name="文字方塊 13">
            <a:extLst>
              <a:ext uri="{FF2B5EF4-FFF2-40B4-BE49-F238E27FC236}">
                <a16:creationId xmlns:a16="http://schemas.microsoft.com/office/drawing/2014/main" id="{BD8F8773-07F2-488C-8910-9B7675A6FA29}"/>
              </a:ext>
            </a:extLst>
          </p:cNvPr>
          <p:cNvSpPr txBox="1"/>
          <p:nvPr/>
        </p:nvSpPr>
        <p:spPr>
          <a:xfrm>
            <a:off x="5951984" y="1052736"/>
            <a:ext cx="2804501" cy="369332"/>
          </a:xfrm>
          <a:prstGeom prst="rect">
            <a:avLst/>
          </a:prstGeom>
          <a:noFill/>
        </p:spPr>
        <p:txBody>
          <a:bodyPr wrap="square">
            <a:spAutoFit/>
          </a:bodyPr>
          <a:lstStyle/>
          <a:p>
            <a:r>
              <a:rPr lang="en-US" dirty="0"/>
              <a:t>I2C设备驱动程序示例</a:t>
            </a:r>
          </a:p>
        </p:txBody>
      </p:sp>
    </p:spTree>
    <p:extLst>
      <p:ext uri="{BB962C8B-B14F-4D97-AF65-F5344CB8AC3E}">
        <p14:creationId xmlns:p14="http://schemas.microsoft.com/office/powerpoint/2010/main" val="2182532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t>
            </a:r>
            <a:r>
              <a:rPr lang="en-US" altLang="zh-CN" sz="3200" b="0" dirty="0">
                <a:solidFill>
                  <a:srgbClr val="000000"/>
                </a:solidFill>
                <a:effectLst/>
                <a:latin typeface="Consolas" panose="020B0609020204030204" pitchFamily="49" charset="0"/>
              </a:rPr>
              <a:t>A</a:t>
            </a:r>
            <a:r>
              <a:rPr lang="en-US" sz="3200" b="0" dirty="0">
                <a:solidFill>
                  <a:srgbClr val="000000"/>
                </a:solidFill>
                <a:effectLst/>
                <a:latin typeface="Consolas" panose="020B0609020204030204" pitchFamily="49" charset="0"/>
              </a:rPr>
              <a:t>pplication</a:t>
            </a:r>
            <a:r>
              <a:rPr lang="zh-CN" altLang="en-US" sz="3200" b="0" dirty="0">
                <a:solidFill>
                  <a:srgbClr val="000000"/>
                </a:solidFill>
                <a:effectLst/>
                <a:latin typeface="Consolas" panose="020B0609020204030204" pitchFamily="49" charset="0"/>
              </a:rPr>
              <a:t>（</a:t>
            </a:r>
            <a:r>
              <a:rPr lang="en-US" sz="3200" dirty="0">
                <a:solidFill>
                  <a:srgbClr val="000000"/>
                </a:solidFill>
                <a:latin typeface="Consolas" panose="020B0609020204030204" pitchFamily="49" charset="0"/>
              </a:rPr>
              <a:t>I2C subsystem</a:t>
            </a:r>
            <a:r>
              <a:rPr lang="zh-CN" altLang="en-US" sz="3200" b="0" dirty="0">
                <a:solidFill>
                  <a:srgbClr val="000000"/>
                </a:solidFill>
                <a:effectLst/>
                <a:latin typeface="Consolas" panose="020B0609020204030204" pitchFamily="49" charset="0"/>
              </a:rPr>
              <a:t>）</a:t>
            </a:r>
            <a:endParaRPr lang="en-US" dirty="0"/>
          </a:p>
        </p:txBody>
      </p:sp>
      <p:pic>
        <p:nvPicPr>
          <p:cNvPr id="8" name="圖片 7">
            <a:extLst>
              <a:ext uri="{FF2B5EF4-FFF2-40B4-BE49-F238E27FC236}">
                <a16:creationId xmlns:a16="http://schemas.microsoft.com/office/drawing/2014/main" id="{D62CE6DC-38F2-4648-8CD8-0DC2AF72CBBD}"/>
              </a:ext>
            </a:extLst>
          </p:cNvPr>
          <p:cNvPicPr>
            <a:picLocks noChangeAspect="1"/>
          </p:cNvPicPr>
          <p:nvPr/>
        </p:nvPicPr>
        <p:blipFill>
          <a:blip r:embed="rId2"/>
          <a:stretch>
            <a:fillRect/>
          </a:stretch>
        </p:blipFill>
        <p:spPr>
          <a:xfrm>
            <a:off x="5923280" y="3299001"/>
            <a:ext cx="6268720" cy="3525116"/>
          </a:xfrm>
          <a:prstGeom prst="rect">
            <a:avLst/>
          </a:prstGeom>
        </p:spPr>
      </p:pic>
      <p:pic>
        <p:nvPicPr>
          <p:cNvPr id="10" name="圖片 9">
            <a:extLst>
              <a:ext uri="{FF2B5EF4-FFF2-40B4-BE49-F238E27FC236}">
                <a16:creationId xmlns:a16="http://schemas.microsoft.com/office/drawing/2014/main" id="{C8B78296-3EAE-46F6-BC13-EC0D95B88ABA}"/>
              </a:ext>
            </a:extLst>
          </p:cNvPr>
          <p:cNvPicPr>
            <a:picLocks noChangeAspect="1"/>
          </p:cNvPicPr>
          <p:nvPr/>
        </p:nvPicPr>
        <p:blipFill>
          <a:blip r:embed="rId3"/>
          <a:stretch>
            <a:fillRect/>
          </a:stretch>
        </p:blipFill>
        <p:spPr>
          <a:xfrm>
            <a:off x="0" y="874837"/>
            <a:ext cx="5413700" cy="5949280"/>
          </a:xfrm>
          <a:prstGeom prst="rect">
            <a:avLst/>
          </a:prstGeom>
        </p:spPr>
      </p:pic>
      <p:sp>
        <p:nvSpPr>
          <p:cNvPr id="11" name="文字方塊 10">
            <a:extLst>
              <a:ext uri="{FF2B5EF4-FFF2-40B4-BE49-F238E27FC236}">
                <a16:creationId xmlns:a16="http://schemas.microsoft.com/office/drawing/2014/main" id="{F7C69708-DDB5-41ED-8A91-12328BED2B56}"/>
              </a:ext>
            </a:extLst>
          </p:cNvPr>
          <p:cNvSpPr txBox="1"/>
          <p:nvPr/>
        </p:nvSpPr>
        <p:spPr>
          <a:xfrm>
            <a:off x="5916409" y="920999"/>
            <a:ext cx="2016224" cy="369332"/>
          </a:xfrm>
          <a:prstGeom prst="rect">
            <a:avLst/>
          </a:prstGeom>
          <a:noFill/>
        </p:spPr>
        <p:txBody>
          <a:bodyPr wrap="square" rtlCol="0">
            <a:spAutoFit/>
          </a:bodyPr>
          <a:lstStyle/>
          <a:p>
            <a:r>
              <a:rPr lang="en-US" altLang="zh-CN" dirty="0"/>
              <a:t>IIC </a:t>
            </a:r>
            <a:r>
              <a:rPr lang="zh-CN" altLang="en-US" dirty="0"/>
              <a:t>通信示例代码</a:t>
            </a:r>
            <a:endParaRPr lang="en-US" dirty="0"/>
          </a:p>
        </p:txBody>
      </p:sp>
      <p:sp>
        <p:nvSpPr>
          <p:cNvPr id="13" name="文字方塊 12">
            <a:extLst>
              <a:ext uri="{FF2B5EF4-FFF2-40B4-BE49-F238E27FC236}">
                <a16:creationId xmlns:a16="http://schemas.microsoft.com/office/drawing/2014/main" id="{775750AA-B5C0-4158-A69B-C57886AB5955}"/>
              </a:ext>
            </a:extLst>
          </p:cNvPr>
          <p:cNvSpPr txBox="1"/>
          <p:nvPr/>
        </p:nvSpPr>
        <p:spPr>
          <a:xfrm>
            <a:off x="5954534" y="2929669"/>
            <a:ext cx="2529656" cy="369332"/>
          </a:xfrm>
          <a:prstGeom prst="rect">
            <a:avLst/>
          </a:prstGeom>
          <a:noFill/>
        </p:spPr>
        <p:txBody>
          <a:bodyPr wrap="square">
            <a:spAutoFit/>
          </a:bodyPr>
          <a:lstStyle/>
          <a:p>
            <a:r>
              <a:rPr lang="en-US" b="0" i="0" dirty="0">
                <a:solidFill>
                  <a:srgbClr val="0000FF"/>
                </a:solidFill>
                <a:effectLst/>
                <a:latin typeface="Source Sans Pro" panose="020B0503030403020204" pitchFamily="34" charset="0"/>
              </a:rPr>
              <a:t>drivers/</a:t>
            </a:r>
            <a:r>
              <a:rPr lang="en-US" b="0" i="0" dirty="0" err="1">
                <a:solidFill>
                  <a:srgbClr val="0000FF"/>
                </a:solidFill>
                <a:effectLst/>
                <a:latin typeface="Source Sans Pro" panose="020B0503030403020204" pitchFamily="34" charset="0"/>
              </a:rPr>
              <a:t>rct</a:t>
            </a:r>
            <a:r>
              <a:rPr lang="en-US" b="0" i="0" dirty="0">
                <a:solidFill>
                  <a:srgbClr val="0000FF"/>
                </a:solidFill>
                <a:effectLst/>
                <a:latin typeface="Source Sans Pro" panose="020B0503030403020204" pitchFamily="34" charset="0"/>
              </a:rPr>
              <a:t>/rtc-ds1672.c</a:t>
            </a:r>
            <a:endParaRPr lang="en-US" dirty="0"/>
          </a:p>
        </p:txBody>
      </p:sp>
    </p:spTree>
    <p:extLst>
      <p:ext uri="{BB962C8B-B14F-4D97-AF65-F5344CB8AC3E}">
        <p14:creationId xmlns:p14="http://schemas.microsoft.com/office/powerpoint/2010/main" val="1855848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t>
            </a:r>
            <a:r>
              <a:rPr lang="en-US" altLang="zh-CN" sz="3200" b="0" dirty="0">
                <a:solidFill>
                  <a:srgbClr val="000000"/>
                </a:solidFill>
                <a:effectLst/>
                <a:latin typeface="Consolas" panose="020B0609020204030204" pitchFamily="49" charset="0"/>
              </a:rPr>
              <a:t>A</a:t>
            </a:r>
            <a:r>
              <a:rPr lang="en-US" sz="3200" b="0" dirty="0">
                <a:solidFill>
                  <a:srgbClr val="000000"/>
                </a:solidFill>
                <a:effectLst/>
                <a:latin typeface="Consolas" panose="020B0609020204030204" pitchFamily="49" charset="0"/>
              </a:rPr>
              <a:t>pplication</a:t>
            </a:r>
            <a:r>
              <a:rPr lang="zh-CN" altLang="en-US" sz="3200" b="0" dirty="0">
                <a:solidFill>
                  <a:srgbClr val="000000"/>
                </a:solidFill>
                <a:effectLst/>
                <a:latin typeface="Consolas" panose="020B0609020204030204" pitchFamily="49" charset="0"/>
              </a:rPr>
              <a:t>（</a:t>
            </a:r>
            <a:r>
              <a:rPr lang="en-US" altLang="zh-CN" sz="3200" b="0" dirty="0" err="1">
                <a:solidFill>
                  <a:srgbClr val="000000"/>
                </a:solidFill>
                <a:effectLst/>
                <a:latin typeface="Consolas" panose="020B0609020204030204" pitchFamily="49" charset="0"/>
              </a:rPr>
              <a:t>SMBus</a:t>
            </a:r>
            <a:r>
              <a:rPr lang="en-US" altLang="zh-CN" sz="3200" b="0" dirty="0">
                <a:solidFill>
                  <a:srgbClr val="000000"/>
                </a:solidFill>
                <a:effectLst/>
                <a:latin typeface="Consolas" panose="020B0609020204030204" pitchFamily="49" charset="0"/>
              </a:rPr>
              <a:t> </a:t>
            </a:r>
            <a:r>
              <a:rPr lang="zh-CN" altLang="en-US" sz="3200" b="0" dirty="0">
                <a:solidFill>
                  <a:srgbClr val="000000"/>
                </a:solidFill>
                <a:effectLst/>
                <a:latin typeface="Consolas" panose="020B0609020204030204" pitchFamily="49" charset="0"/>
              </a:rPr>
              <a:t>调用）</a:t>
            </a:r>
            <a:endParaRPr lang="en-US" dirty="0"/>
          </a:p>
        </p:txBody>
      </p:sp>
      <p:sp>
        <p:nvSpPr>
          <p:cNvPr id="3" name="文字方塊 2">
            <a:extLst>
              <a:ext uri="{FF2B5EF4-FFF2-40B4-BE49-F238E27FC236}">
                <a16:creationId xmlns:a16="http://schemas.microsoft.com/office/drawing/2014/main" id="{1F2FF237-E1D5-4EDA-AEC6-2B608083B796}"/>
              </a:ext>
            </a:extLst>
          </p:cNvPr>
          <p:cNvSpPr txBox="1"/>
          <p:nvPr/>
        </p:nvSpPr>
        <p:spPr>
          <a:xfrm>
            <a:off x="623392" y="764704"/>
            <a:ext cx="10081120" cy="57265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err="1"/>
              <a:t>SMBus</a:t>
            </a:r>
            <a:r>
              <a:rPr lang="en-US" dirty="0"/>
              <a:t> （</a:t>
            </a:r>
            <a:r>
              <a:rPr lang="zh-CN" altLang="en-US" dirty="0"/>
              <a:t>系统管理总线） 是 </a:t>
            </a:r>
            <a:r>
              <a:rPr lang="en-US" dirty="0"/>
              <a:t>I2C </a:t>
            </a:r>
            <a:r>
              <a:rPr lang="zh-CN" altLang="en-US" dirty="0"/>
              <a:t>协议的子集。</a:t>
            </a:r>
          </a:p>
          <a:p>
            <a:pPr marL="285750" indent="-285750">
              <a:lnSpc>
                <a:spcPct val="150000"/>
              </a:lnSpc>
              <a:buFont typeface="Arial" panose="020B0604020202020204" pitchFamily="34" charset="0"/>
              <a:buChar char="•"/>
            </a:pPr>
            <a:r>
              <a:rPr lang="zh-CN" altLang="en-US" dirty="0"/>
              <a:t>它定义了一组标准的事务。</a:t>
            </a:r>
          </a:p>
          <a:p>
            <a:pPr marL="285750" indent="-285750">
              <a:lnSpc>
                <a:spcPct val="150000"/>
              </a:lnSpc>
              <a:buFont typeface="Arial" panose="020B0604020202020204" pitchFamily="34" charset="0"/>
              <a:buChar char="•"/>
            </a:pPr>
            <a:r>
              <a:rPr lang="en-US" dirty="0" err="1"/>
              <a:t>SMBus</a:t>
            </a:r>
            <a:r>
              <a:rPr lang="en-US" dirty="0"/>
              <a:t> </a:t>
            </a:r>
            <a:r>
              <a:rPr lang="zh-CN" altLang="en-US" dirty="0"/>
              <a:t>功能列表：</a:t>
            </a:r>
          </a:p>
          <a:p>
            <a:pPr marL="742950" lvl="1" indent="-285750">
              <a:buFont typeface="Arial" panose="020B0604020202020204" pitchFamily="34" charset="0"/>
              <a:buChar char="•"/>
            </a:pPr>
            <a:r>
              <a:rPr lang="zh-CN" altLang="en-US" dirty="0"/>
              <a:t>读</a:t>
            </a:r>
            <a:r>
              <a:rPr lang="en-US" altLang="zh-CN" dirty="0"/>
              <a:t>/</a:t>
            </a:r>
            <a:r>
              <a:rPr lang="zh-CN" altLang="en-US" dirty="0"/>
              <a:t>写 </a:t>
            </a:r>
            <a:r>
              <a:rPr lang="en-US" altLang="zh-CN" dirty="0"/>
              <a:t>1 </a:t>
            </a:r>
            <a:r>
              <a:rPr lang="zh-CN" altLang="en-US" dirty="0"/>
              <a:t>个字节：</a:t>
            </a:r>
          </a:p>
          <a:p>
            <a:pPr>
              <a:lnSpc>
                <a:spcPct val="150000"/>
              </a:lnSpc>
            </a:pPr>
            <a:r>
              <a:rPr lang="en-US" dirty="0"/>
              <a:t>		I2C_smbus_read_byte（）</a:t>
            </a:r>
          </a:p>
          <a:p>
            <a:pPr>
              <a:lnSpc>
                <a:spcPct val="150000"/>
              </a:lnSpc>
            </a:pPr>
            <a:r>
              <a:rPr lang="en-US" dirty="0"/>
              <a:t>		I2C_smbus_write_byte（）</a:t>
            </a:r>
          </a:p>
          <a:p>
            <a:pPr marL="742950" lvl="1" indent="-285750">
              <a:buFont typeface="Arial" panose="020B0604020202020204" pitchFamily="34" charset="0"/>
              <a:buChar char="•"/>
            </a:pPr>
            <a:r>
              <a:rPr lang="zh-CN" altLang="en-US" dirty="0"/>
              <a:t>写入一个命令字节，并读</a:t>
            </a:r>
            <a:r>
              <a:rPr lang="en-US" altLang="zh-CN" dirty="0"/>
              <a:t>/</a:t>
            </a:r>
            <a:r>
              <a:rPr lang="zh-CN" altLang="en-US" dirty="0"/>
              <a:t>写一个字节（类似寄存器的访问）：</a:t>
            </a:r>
          </a:p>
          <a:p>
            <a:pPr>
              <a:lnSpc>
                <a:spcPct val="150000"/>
              </a:lnSpc>
            </a:pPr>
            <a:r>
              <a:rPr lang="en-US" dirty="0"/>
              <a:t>		I2C_smbus_read_byte_data（）</a:t>
            </a:r>
          </a:p>
          <a:p>
            <a:pPr>
              <a:lnSpc>
                <a:spcPct val="150000"/>
              </a:lnSpc>
            </a:pPr>
            <a:r>
              <a:rPr lang="en-US" dirty="0"/>
              <a:t>		I2C_smbus_write_byte_data（）</a:t>
            </a:r>
          </a:p>
          <a:p>
            <a:pPr marL="742950" lvl="1" indent="-285750">
              <a:buFont typeface="Arial" panose="020B0604020202020204" pitchFamily="34" charset="0"/>
              <a:buChar char="•"/>
            </a:pPr>
            <a:r>
              <a:rPr lang="zh-CN" altLang="en-US" dirty="0"/>
              <a:t>写入一个命令字节，并读</a:t>
            </a:r>
            <a:r>
              <a:rPr lang="en-US" altLang="zh-CN" dirty="0"/>
              <a:t>/</a:t>
            </a:r>
            <a:r>
              <a:rPr lang="zh-CN" altLang="en-US" dirty="0"/>
              <a:t>写一个字（类似寄存器的访问）：</a:t>
            </a:r>
          </a:p>
          <a:p>
            <a:pPr>
              <a:lnSpc>
                <a:spcPct val="150000"/>
              </a:lnSpc>
            </a:pPr>
            <a:r>
              <a:rPr lang="en-US" dirty="0"/>
              <a:t>		I2C_smbus_read_word_data（）</a:t>
            </a:r>
          </a:p>
          <a:p>
            <a:pPr>
              <a:lnSpc>
                <a:spcPct val="150000"/>
              </a:lnSpc>
            </a:pPr>
            <a:r>
              <a:rPr lang="en-US" dirty="0"/>
              <a:t>		I2C_smbus_write_word_data（）</a:t>
            </a:r>
          </a:p>
          <a:p>
            <a:pPr marL="742950" lvl="1" indent="-285750">
              <a:buFont typeface="Arial" panose="020B0604020202020204" pitchFamily="34" charset="0"/>
              <a:buChar char="•"/>
            </a:pPr>
            <a:r>
              <a:rPr lang="zh-CN" altLang="en-US" dirty="0"/>
              <a:t>写入命令字节，并读</a:t>
            </a:r>
            <a:r>
              <a:rPr lang="en-US" altLang="zh-CN" dirty="0"/>
              <a:t>/</a:t>
            </a:r>
            <a:r>
              <a:rPr lang="zh-CN" altLang="en-US" dirty="0"/>
              <a:t>写数据块（最大 </a:t>
            </a:r>
            <a:r>
              <a:rPr lang="en-US" altLang="zh-CN" dirty="0"/>
              <a:t>32 </a:t>
            </a:r>
            <a:r>
              <a:rPr lang="zh-CN" altLang="en-US" dirty="0"/>
              <a:t>字节）：</a:t>
            </a:r>
          </a:p>
          <a:p>
            <a:pPr>
              <a:lnSpc>
                <a:spcPct val="150000"/>
              </a:lnSpc>
            </a:pPr>
            <a:r>
              <a:rPr lang="en-US" dirty="0"/>
              <a:t>		I2C_smbus_read_block_data（）</a:t>
            </a:r>
          </a:p>
          <a:p>
            <a:pPr>
              <a:lnSpc>
                <a:spcPct val="150000"/>
              </a:lnSpc>
            </a:pPr>
            <a:r>
              <a:rPr lang="en-US" dirty="0"/>
              <a:t>		I2C_smbus_write_block_data（）</a:t>
            </a:r>
          </a:p>
        </p:txBody>
      </p:sp>
    </p:spTree>
    <p:extLst>
      <p:ext uri="{BB962C8B-B14F-4D97-AF65-F5344CB8AC3E}">
        <p14:creationId xmlns:p14="http://schemas.microsoft.com/office/powerpoint/2010/main" val="1174184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D6B8F-A91A-4FC7-92F9-48F232BBE812}"/>
              </a:ext>
            </a:extLst>
          </p:cNvPr>
          <p:cNvSpPr>
            <a:spLocks noGrp="1"/>
          </p:cNvSpPr>
          <p:nvPr>
            <p:ph type="title"/>
          </p:nvPr>
        </p:nvSpPr>
        <p:spPr/>
        <p:txBody>
          <a:bodyPr/>
          <a:lstStyle/>
          <a:p>
            <a:r>
              <a:rPr lang="en-US" sz="3200" b="0" dirty="0">
                <a:solidFill>
                  <a:srgbClr val="000000"/>
                </a:solidFill>
                <a:effectLst/>
                <a:latin typeface="Consolas" panose="020B0609020204030204" pitchFamily="49" charset="0"/>
              </a:rPr>
              <a:t>I2C </a:t>
            </a:r>
            <a:r>
              <a:rPr lang="en-US" altLang="zh-CN" sz="3200" b="0" dirty="0">
                <a:solidFill>
                  <a:srgbClr val="000000"/>
                </a:solidFill>
                <a:effectLst/>
                <a:latin typeface="Consolas" panose="020B0609020204030204" pitchFamily="49" charset="0"/>
              </a:rPr>
              <a:t>A</a:t>
            </a:r>
            <a:r>
              <a:rPr lang="en-US" sz="3200" b="0" dirty="0">
                <a:solidFill>
                  <a:srgbClr val="000000"/>
                </a:solidFill>
                <a:effectLst/>
                <a:latin typeface="Consolas" panose="020B0609020204030204" pitchFamily="49" charset="0"/>
              </a:rPr>
              <a:t>pplication</a:t>
            </a:r>
            <a:r>
              <a:rPr lang="zh-CN" altLang="en-US" sz="3200" b="0" dirty="0">
                <a:solidFill>
                  <a:srgbClr val="000000"/>
                </a:solidFill>
                <a:effectLst/>
                <a:latin typeface="Consolas" panose="020B0609020204030204" pitchFamily="49" charset="0"/>
              </a:rPr>
              <a:t>（</a:t>
            </a:r>
            <a:r>
              <a:rPr lang="en-US" altLang="zh-CN" sz="3200" b="0" dirty="0" err="1">
                <a:solidFill>
                  <a:srgbClr val="000000"/>
                </a:solidFill>
                <a:effectLst/>
                <a:latin typeface="Consolas" panose="020B0609020204030204" pitchFamily="49" charset="0"/>
              </a:rPr>
              <a:t>SMBus</a:t>
            </a:r>
            <a:r>
              <a:rPr lang="en-US" altLang="zh-CN" sz="3200" b="0" dirty="0">
                <a:solidFill>
                  <a:srgbClr val="000000"/>
                </a:solidFill>
                <a:effectLst/>
                <a:latin typeface="Consolas" panose="020B0609020204030204" pitchFamily="49" charset="0"/>
              </a:rPr>
              <a:t> </a:t>
            </a:r>
            <a:r>
              <a:rPr lang="zh-CN" altLang="en-US" sz="3200" b="0" dirty="0">
                <a:solidFill>
                  <a:srgbClr val="000000"/>
                </a:solidFill>
                <a:effectLst/>
                <a:latin typeface="Consolas" panose="020B0609020204030204" pitchFamily="49" charset="0"/>
              </a:rPr>
              <a:t>调用）</a:t>
            </a:r>
            <a:endParaRPr lang="en-US" dirty="0"/>
          </a:p>
        </p:txBody>
      </p:sp>
      <p:pic>
        <p:nvPicPr>
          <p:cNvPr id="5" name="圖片 4">
            <a:extLst>
              <a:ext uri="{FF2B5EF4-FFF2-40B4-BE49-F238E27FC236}">
                <a16:creationId xmlns:a16="http://schemas.microsoft.com/office/drawing/2014/main" id="{19DD7B49-769A-4EC7-8E34-B4CEC7CFFD31}"/>
              </a:ext>
            </a:extLst>
          </p:cNvPr>
          <p:cNvPicPr>
            <a:picLocks noChangeAspect="1"/>
          </p:cNvPicPr>
          <p:nvPr/>
        </p:nvPicPr>
        <p:blipFill>
          <a:blip r:embed="rId2"/>
          <a:stretch>
            <a:fillRect/>
          </a:stretch>
        </p:blipFill>
        <p:spPr>
          <a:xfrm>
            <a:off x="839416" y="752454"/>
            <a:ext cx="9145016" cy="5397828"/>
          </a:xfrm>
          <a:prstGeom prst="rect">
            <a:avLst/>
          </a:prstGeom>
        </p:spPr>
      </p:pic>
      <p:sp>
        <p:nvSpPr>
          <p:cNvPr id="7" name="文字方塊 6">
            <a:extLst>
              <a:ext uri="{FF2B5EF4-FFF2-40B4-BE49-F238E27FC236}">
                <a16:creationId xmlns:a16="http://schemas.microsoft.com/office/drawing/2014/main" id="{9A02C612-23A3-42BA-A733-4F66B509BA31}"/>
              </a:ext>
            </a:extLst>
          </p:cNvPr>
          <p:cNvSpPr txBox="1"/>
          <p:nvPr/>
        </p:nvSpPr>
        <p:spPr>
          <a:xfrm>
            <a:off x="839416" y="6150282"/>
            <a:ext cx="6142566" cy="369332"/>
          </a:xfrm>
          <a:prstGeom prst="rect">
            <a:avLst/>
          </a:prstGeom>
          <a:noFill/>
        </p:spPr>
        <p:txBody>
          <a:bodyPr wrap="square">
            <a:spAutoFit/>
          </a:bodyPr>
          <a:lstStyle/>
          <a:p>
            <a:r>
              <a:rPr lang="en-US" b="0" i="0" dirty="0">
                <a:solidFill>
                  <a:srgbClr val="222222"/>
                </a:solidFill>
                <a:effectLst/>
                <a:latin typeface="Source Sans Pro" panose="020B0503030403020204" pitchFamily="34" charset="0"/>
              </a:rPr>
              <a:t>Reference: </a:t>
            </a:r>
            <a:r>
              <a:rPr lang="en-US" b="0" i="0" u="none" strike="noStrike" dirty="0">
                <a:effectLst/>
                <a:latin typeface="Source Sans Pro" panose="020B0503030403020204" pitchFamily="34" charset="0"/>
                <a:hlinkClick r:id="rId3"/>
              </a:rPr>
              <a:t>https://docs.kernel.org/I2C/smbus-protocol.html</a:t>
            </a:r>
            <a:endParaRPr lang="en-US" dirty="0"/>
          </a:p>
        </p:txBody>
      </p:sp>
    </p:spTree>
    <p:extLst>
      <p:ext uri="{BB962C8B-B14F-4D97-AF65-F5344CB8AC3E}">
        <p14:creationId xmlns:p14="http://schemas.microsoft.com/office/powerpoint/2010/main" val="4013602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7A27EC79-928D-451D-BEDC-F7FD549E9F76}"/>
              </a:ext>
            </a:extLst>
          </p:cNvPr>
          <p:cNvSpPr txBox="1"/>
          <p:nvPr/>
        </p:nvSpPr>
        <p:spPr>
          <a:xfrm>
            <a:off x="509864" y="1002035"/>
            <a:ext cx="6594248" cy="378808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solidFill>
                  <a:srgbClr val="222222"/>
                </a:solidFill>
                <a:latin typeface="Source Sans Pro" panose="020B0503030403020204" pitchFamily="34" charset="0"/>
              </a:rPr>
              <a:t>I3C: Improved Inter Integrated Circuit.</a:t>
            </a:r>
          </a:p>
          <a:p>
            <a:pPr marL="285750" indent="-285750" algn="l">
              <a:lnSpc>
                <a:spcPct val="150000"/>
              </a:lnSpc>
              <a:buFont typeface="Arial" panose="020B0604020202020204" pitchFamily="34" charset="0"/>
              <a:buChar char="•"/>
            </a:pPr>
            <a:r>
              <a:rPr lang="en-US" altLang="zh-CN" b="0" i="0" dirty="0">
                <a:solidFill>
                  <a:srgbClr val="FF0000"/>
                </a:solidFill>
                <a:effectLst/>
                <a:latin typeface="Source Sans Pro" panose="020B0503030403020204" pitchFamily="34" charset="0"/>
              </a:rPr>
              <a:t>Backward compatibility with I2C</a:t>
            </a:r>
            <a:r>
              <a:rPr lang="en-US" altLang="zh-CN" dirty="0">
                <a:solidFill>
                  <a:srgbClr val="FF0000"/>
                </a:solidFill>
                <a:latin typeface="Source Sans Pro" panose="020B0503030403020204" pitchFamily="34" charset="0"/>
              </a:rPr>
              <a:t>,</a:t>
            </a:r>
            <a:r>
              <a:rPr lang="en-US" altLang="zh-CN" b="0" i="0" dirty="0">
                <a:solidFill>
                  <a:srgbClr val="FF0000"/>
                </a:solidFill>
                <a:effectLst/>
                <a:latin typeface="Source Sans Pro" panose="020B0503030403020204" pitchFamily="34" charset="0"/>
              </a:rPr>
              <a:t> so I3C bus can mount I2C slave devices.</a:t>
            </a:r>
          </a:p>
          <a:p>
            <a:pPr marL="285750" indent="-285750" algn="l">
              <a:lnSpc>
                <a:spcPct val="150000"/>
              </a:lnSpc>
              <a:buFont typeface="Arial" panose="020B0604020202020204" pitchFamily="34" charset="0"/>
              <a:buChar char="•"/>
            </a:pPr>
            <a:r>
              <a:rPr lang="en-US" altLang="zh-CN" b="0" i="0" dirty="0">
                <a:solidFill>
                  <a:srgbClr val="222222"/>
                </a:solidFill>
                <a:effectLst/>
                <a:latin typeface="Source Sans Pro" panose="020B0503030403020204" pitchFamily="34" charset="0"/>
              </a:rPr>
              <a:t>Low power: Target voltage is 3.3V, 1.8V, 1.2V or lower</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Can have multiple masters (1 main master, multiple secondary masters)</a:t>
            </a:r>
          </a:p>
          <a:p>
            <a:pPr marL="285750" indent="-285750" algn="l">
              <a:lnSpc>
                <a:spcPct val="150000"/>
              </a:lnSpc>
              <a:buFont typeface="Arial" panose="020B0604020202020204" pitchFamily="34" charset="0"/>
              <a:buChar char="•"/>
            </a:pPr>
            <a:r>
              <a:rPr lang="en-US" altLang="zh-CN" b="0" i="0" dirty="0">
                <a:solidFill>
                  <a:srgbClr val="222222"/>
                </a:solidFill>
                <a:effectLst/>
                <a:latin typeface="Source Sans Pro" panose="020B0503030403020204" pitchFamily="34" charset="0"/>
              </a:rPr>
              <a:t>High transmission rate (12.5MHz~37.5MHz)</a:t>
            </a:r>
          </a:p>
          <a:p>
            <a:pPr marL="285750" indent="-285750" algn="l">
              <a:lnSpc>
                <a:spcPct val="150000"/>
              </a:lnSpc>
              <a:buFont typeface="Arial" panose="020B0604020202020204" pitchFamily="34" charset="0"/>
              <a:buChar char="•"/>
            </a:pPr>
            <a:r>
              <a:rPr lang="en-US" altLang="zh-CN" b="0" i="0" dirty="0">
                <a:solidFill>
                  <a:srgbClr val="222222"/>
                </a:solidFill>
                <a:effectLst/>
                <a:latin typeface="Source Sans Pro" panose="020B0503030403020204" pitchFamily="34" charset="0"/>
              </a:rPr>
              <a:t>Dynamically allocate Address to slave devices, with lower numbers giving higher priority</a:t>
            </a:r>
          </a:p>
        </p:txBody>
      </p:sp>
      <p:pic>
        <p:nvPicPr>
          <p:cNvPr id="8" name="圖片 7">
            <a:extLst>
              <a:ext uri="{FF2B5EF4-FFF2-40B4-BE49-F238E27FC236}">
                <a16:creationId xmlns:a16="http://schemas.microsoft.com/office/drawing/2014/main" id="{061EEC0F-7B8A-42E6-A15A-F1A9D8D69B4C}"/>
              </a:ext>
            </a:extLst>
          </p:cNvPr>
          <p:cNvPicPr>
            <a:picLocks noChangeAspect="1"/>
          </p:cNvPicPr>
          <p:nvPr/>
        </p:nvPicPr>
        <p:blipFill rotWithShape="1">
          <a:blip r:embed="rId2"/>
          <a:srcRect l="5568" r="4689"/>
          <a:stretch/>
        </p:blipFill>
        <p:spPr>
          <a:xfrm>
            <a:off x="6888088" y="1988840"/>
            <a:ext cx="5040560" cy="2242405"/>
          </a:xfrm>
          <a:prstGeom prst="rect">
            <a:avLst/>
          </a:prstGeom>
        </p:spPr>
      </p:pic>
      <p:sp>
        <p:nvSpPr>
          <p:cNvPr id="2" name="標題 1">
            <a:extLst>
              <a:ext uri="{FF2B5EF4-FFF2-40B4-BE49-F238E27FC236}">
                <a16:creationId xmlns:a16="http://schemas.microsoft.com/office/drawing/2014/main" id="{59444CDD-0AA6-4292-992E-3759ED2BC5BC}"/>
              </a:ext>
            </a:extLst>
          </p:cNvPr>
          <p:cNvSpPr>
            <a:spLocks noGrp="1"/>
          </p:cNvSpPr>
          <p:nvPr>
            <p:ph type="title"/>
          </p:nvPr>
        </p:nvSpPr>
        <p:spPr/>
        <p:txBody>
          <a:bodyPr/>
          <a:lstStyle/>
          <a:p>
            <a:r>
              <a:rPr lang="en-US" altLang="zh-CN" dirty="0"/>
              <a:t>I3C</a:t>
            </a:r>
            <a:endParaRPr lang="en-US" dirty="0"/>
          </a:p>
        </p:txBody>
      </p:sp>
      <p:sp>
        <p:nvSpPr>
          <p:cNvPr id="3" name="文字方塊 2">
            <a:extLst>
              <a:ext uri="{FF2B5EF4-FFF2-40B4-BE49-F238E27FC236}">
                <a16:creationId xmlns:a16="http://schemas.microsoft.com/office/drawing/2014/main" id="{CD069BC1-8DB8-4035-BF7A-2904989AC0E8}"/>
              </a:ext>
            </a:extLst>
          </p:cNvPr>
          <p:cNvSpPr txBox="1"/>
          <p:nvPr/>
        </p:nvSpPr>
        <p:spPr>
          <a:xfrm>
            <a:off x="407368" y="4782051"/>
            <a:ext cx="11089232" cy="2031325"/>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zh-CN" altLang="en-US" b="0" i="0" dirty="0">
                <a:solidFill>
                  <a:srgbClr val="222222"/>
                </a:solidFill>
                <a:effectLst/>
                <a:latin typeface="Source Sans Pro" panose="020B0503030403020204" pitchFamily="34" charset="0"/>
              </a:rPr>
              <a:t>预先定义了许多的</a:t>
            </a:r>
            <a:r>
              <a:rPr lang="en-US" b="0" i="0" dirty="0">
                <a:solidFill>
                  <a:srgbClr val="222222"/>
                </a:solidFill>
                <a:effectLst/>
                <a:latin typeface="Source Sans Pro" panose="020B0503030403020204" pitchFamily="34" charset="0"/>
              </a:rPr>
              <a:t>CCC (Common Command Code)</a:t>
            </a:r>
            <a:r>
              <a:rPr lang="zh-CN" altLang="en-US" b="0" i="0" dirty="0">
                <a:solidFill>
                  <a:srgbClr val="222222"/>
                </a:solidFill>
                <a:effectLst/>
                <a:latin typeface="Source Sans Pro" panose="020B0503030403020204" pitchFamily="34" charset="0"/>
              </a:rPr>
              <a:t>，可以让</a:t>
            </a:r>
            <a:r>
              <a:rPr lang="en-US" b="0" i="0" dirty="0">
                <a:solidFill>
                  <a:srgbClr val="222222"/>
                </a:solidFill>
                <a:effectLst/>
                <a:latin typeface="Source Sans Pro" panose="020B0503030403020204" pitchFamily="34" charset="0"/>
              </a:rPr>
              <a:t>master</a:t>
            </a:r>
            <a:r>
              <a:rPr lang="zh-CN" altLang="en-US" b="0" i="0" dirty="0">
                <a:solidFill>
                  <a:srgbClr val="222222"/>
                </a:solidFill>
                <a:effectLst/>
                <a:latin typeface="Source Sans Pro" panose="020B0503030403020204" pitchFamily="34" charset="0"/>
              </a:rPr>
              <a:t>对</a:t>
            </a:r>
            <a:r>
              <a:rPr lang="en-US" b="0" i="0" dirty="0">
                <a:solidFill>
                  <a:srgbClr val="222222"/>
                </a:solidFill>
                <a:effectLst/>
                <a:latin typeface="Source Sans Pro" panose="020B0503030403020204" pitchFamily="34" charset="0"/>
              </a:rPr>
              <a:t>slave</a:t>
            </a:r>
            <a:r>
              <a:rPr lang="zh-CN" altLang="en-US" b="0" i="0" dirty="0">
                <a:solidFill>
                  <a:srgbClr val="222222"/>
                </a:solidFill>
                <a:effectLst/>
                <a:latin typeface="Source Sans Pro" panose="020B0503030403020204" pitchFamily="34" charset="0"/>
              </a:rPr>
              <a:t>进行一系列特定行为的通讯（包含动态地址配置等</a:t>
            </a:r>
            <a:r>
              <a:rPr lang="zh-CN" altLang="en-US" dirty="0">
                <a:solidFill>
                  <a:srgbClr val="222222"/>
                </a:solidFill>
                <a:latin typeface="Source Sans Pro" panose="020B0503030403020204" pitchFamily="34" charset="0"/>
              </a:rPr>
              <a:t>。</a:t>
            </a:r>
            <a:endParaRPr lang="zh-CN" altLang="en-US" b="0" i="0" dirty="0">
              <a:solidFill>
                <a:srgbClr val="222222"/>
              </a:solidFill>
              <a:effectLst/>
              <a:latin typeface="Source Sans Pro" panose="020B0503030403020204" pitchFamily="34" charset="0"/>
            </a:endParaRPr>
          </a:p>
          <a:p>
            <a:pPr marL="285750" indent="-285750" algn="l">
              <a:lnSpc>
                <a:spcPct val="150000"/>
              </a:lnSpc>
              <a:buFont typeface="Arial" panose="020B0604020202020204" pitchFamily="34" charset="0"/>
              <a:buChar char="•"/>
            </a:pPr>
            <a:r>
              <a:rPr lang="zh-CN" altLang="en-US" b="0" i="0" dirty="0">
                <a:solidFill>
                  <a:srgbClr val="222222"/>
                </a:solidFill>
                <a:effectLst/>
                <a:latin typeface="Source Sans Pro" panose="020B0503030403020204" pitchFamily="34" charset="0"/>
              </a:rPr>
              <a:t>每笔传送的数据多了一个第</a:t>
            </a:r>
            <a:r>
              <a:rPr lang="en-US" altLang="zh-CN" b="0" i="0" dirty="0">
                <a:solidFill>
                  <a:srgbClr val="222222"/>
                </a:solidFill>
                <a:effectLst/>
                <a:latin typeface="Source Sans Pro" panose="020B0503030403020204" pitchFamily="34" charset="0"/>
              </a:rPr>
              <a:t>9 </a:t>
            </a:r>
            <a:r>
              <a:rPr lang="en-US" b="0" i="0" dirty="0">
                <a:solidFill>
                  <a:srgbClr val="222222"/>
                </a:solidFill>
                <a:effectLst/>
                <a:latin typeface="Source Sans Pro" panose="020B0503030403020204" pitchFamily="34" charset="0"/>
              </a:rPr>
              <a:t>bit: T-bit</a:t>
            </a:r>
            <a:r>
              <a:rPr lang="zh-CN" altLang="en-US" b="0" i="0" dirty="0">
                <a:solidFill>
                  <a:srgbClr val="222222"/>
                </a:solidFill>
                <a:effectLst/>
                <a:latin typeface="Source Sans Pro" panose="020B0503030403020204" pitchFamily="34" charset="0"/>
              </a:rPr>
              <a:t>，可做为</a:t>
            </a:r>
            <a:r>
              <a:rPr lang="en-US" b="0" i="0" dirty="0">
                <a:solidFill>
                  <a:srgbClr val="222222"/>
                </a:solidFill>
                <a:effectLst/>
                <a:latin typeface="Source Sans Pro" panose="020B0503030403020204" pitchFamily="34" charset="0"/>
              </a:rPr>
              <a:t>Odd Parity</a:t>
            </a:r>
            <a:r>
              <a:rPr lang="zh-CN" altLang="en-US" b="0" i="0" dirty="0">
                <a:solidFill>
                  <a:srgbClr val="222222"/>
                </a:solidFill>
                <a:effectLst/>
                <a:latin typeface="Source Sans Pro" panose="020B0503030403020204" pitchFamily="34" charset="0"/>
              </a:rPr>
              <a:t>（奇偶校验）的验证位；或让</a:t>
            </a:r>
            <a:r>
              <a:rPr lang="en-US" b="0" i="0" dirty="0">
                <a:solidFill>
                  <a:srgbClr val="222222"/>
                </a:solidFill>
                <a:effectLst/>
                <a:latin typeface="Source Sans Pro" panose="020B0503030403020204" pitchFamily="34" charset="0"/>
              </a:rPr>
              <a:t>slave</a:t>
            </a:r>
            <a:r>
              <a:rPr lang="zh-CN" altLang="en-US" b="0" i="0" dirty="0">
                <a:solidFill>
                  <a:srgbClr val="222222"/>
                </a:solidFill>
                <a:effectLst/>
                <a:latin typeface="Source Sans Pro" panose="020B0503030403020204" pitchFamily="34" charset="0"/>
              </a:rPr>
              <a:t>告知是否有更多的数据需要传送的</a:t>
            </a:r>
            <a:r>
              <a:rPr lang="en-US" b="0" i="0" dirty="0">
                <a:solidFill>
                  <a:srgbClr val="222222"/>
                </a:solidFill>
                <a:effectLst/>
                <a:latin typeface="Source Sans Pro" panose="020B0503030403020204" pitchFamily="34" charset="0"/>
              </a:rPr>
              <a:t>End-of-Data</a:t>
            </a:r>
            <a:r>
              <a:rPr lang="zh-CN" altLang="en-US" b="0" i="0" dirty="0">
                <a:solidFill>
                  <a:srgbClr val="222222"/>
                </a:solidFill>
                <a:effectLst/>
                <a:latin typeface="Source Sans Pro" panose="020B0503030403020204" pitchFamily="34" charset="0"/>
              </a:rPr>
              <a:t>位</a:t>
            </a:r>
            <a:r>
              <a:rPr lang="zh-CN" altLang="en-US" dirty="0">
                <a:solidFill>
                  <a:srgbClr val="222222"/>
                </a:solidFill>
                <a:latin typeface="Source Sans Pro" panose="020B0503030403020204" pitchFamily="34" charset="0"/>
              </a:rPr>
              <a:t>。</a:t>
            </a:r>
            <a:endParaRPr lang="en-US" altLang="zh-CN" b="0" i="0" dirty="0">
              <a:solidFill>
                <a:srgbClr val="222222"/>
              </a:solidFill>
              <a:effectLst/>
              <a:latin typeface="Source Sans Pro" panose="020B0503030403020204" pitchFamily="34" charset="0"/>
            </a:endParaRPr>
          </a:p>
          <a:p>
            <a:endParaRPr lang="en-US" dirty="0"/>
          </a:p>
        </p:txBody>
      </p:sp>
    </p:spTree>
    <p:extLst>
      <p:ext uri="{BB962C8B-B14F-4D97-AF65-F5344CB8AC3E}">
        <p14:creationId xmlns:p14="http://schemas.microsoft.com/office/powerpoint/2010/main" val="2217331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9FA073-F205-4BBF-AAA6-63448BBC6598}"/>
              </a:ext>
            </a:extLst>
          </p:cNvPr>
          <p:cNvSpPr>
            <a:spLocks noGrp="1"/>
          </p:cNvSpPr>
          <p:nvPr>
            <p:ph type="title"/>
          </p:nvPr>
        </p:nvSpPr>
        <p:spPr/>
        <p:txBody>
          <a:bodyPr/>
          <a:lstStyle/>
          <a:p>
            <a:r>
              <a:rPr kumimoji="0" lang="en-US" sz="3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References</a:t>
            </a:r>
            <a:endParaRPr lang="en-US" dirty="0"/>
          </a:p>
        </p:txBody>
      </p:sp>
      <p:sp>
        <p:nvSpPr>
          <p:cNvPr id="6" name="文字方塊 5">
            <a:extLst>
              <a:ext uri="{FF2B5EF4-FFF2-40B4-BE49-F238E27FC236}">
                <a16:creationId xmlns:a16="http://schemas.microsoft.com/office/drawing/2014/main" id="{E8F4307F-6417-48DB-8287-57CDEBD61D91}"/>
              </a:ext>
            </a:extLst>
          </p:cNvPr>
          <p:cNvSpPr txBox="1"/>
          <p:nvPr/>
        </p:nvSpPr>
        <p:spPr>
          <a:xfrm>
            <a:off x="407368" y="1196752"/>
            <a:ext cx="11305256" cy="1754326"/>
          </a:xfrm>
          <a:prstGeom prst="rect">
            <a:avLst/>
          </a:prstGeom>
          <a:noFill/>
        </p:spPr>
        <p:txBody>
          <a:bodyPr wrap="square">
            <a:spAutoFit/>
          </a:bodyPr>
          <a:lstStyle/>
          <a:p>
            <a:pPr marL="285750" indent="-285750">
              <a:lnSpc>
                <a:spcPct val="250000"/>
              </a:lnSpc>
              <a:buFont typeface="Wingdings" panose="05000000000000000000" pitchFamily="2" charset="2"/>
              <a:buChar char="Ø"/>
            </a:pPr>
            <a:r>
              <a:rPr lang="zh-CN" altLang="en-US" dirty="0"/>
              <a:t>广州周立功单片机发展有限公司 </a:t>
            </a:r>
            <a:r>
              <a:rPr lang="en-US" altLang="zh-CN" dirty="0"/>
              <a:t>IIC </a:t>
            </a:r>
            <a:r>
              <a:rPr lang="zh-CN" altLang="en-US" dirty="0"/>
              <a:t>总线规范</a:t>
            </a:r>
            <a:r>
              <a:rPr lang="en-US" altLang="zh-CN" dirty="0">
                <a:solidFill>
                  <a:srgbClr val="0808CE"/>
                </a:solidFill>
                <a:hlinkClick r:id="rId2">
                  <a:extLst>
                    <a:ext uri="{A12FA001-AC4F-418D-AE19-62706E023703}">
                      <ahyp:hlinkClr xmlns:ahyp="http://schemas.microsoft.com/office/drawing/2018/hyperlinkcolor" val="tx"/>
                    </a:ext>
                  </a:extLst>
                </a:hlinkClick>
              </a:rPr>
              <a:t>IIC</a:t>
            </a:r>
            <a:r>
              <a:rPr lang="zh-CN" altLang="en-US" dirty="0">
                <a:solidFill>
                  <a:srgbClr val="0808CE"/>
                </a:solidFill>
                <a:hlinkClick r:id="rId2">
                  <a:extLst>
                    <a:ext uri="{A12FA001-AC4F-418D-AE19-62706E023703}">
                      <ahyp:hlinkClr xmlns:ahyp="http://schemas.microsoft.com/office/drawing/2018/hyperlinkcolor" val="tx"/>
                    </a:ext>
                  </a:extLst>
                </a:hlinkClick>
              </a:rPr>
              <a:t>总线协议</a:t>
            </a:r>
            <a:r>
              <a:rPr lang="en-US" altLang="zh-CN" dirty="0">
                <a:solidFill>
                  <a:srgbClr val="0808CE"/>
                </a:solidFill>
                <a:hlinkClick r:id="rId2">
                  <a:extLst>
                    <a:ext uri="{A12FA001-AC4F-418D-AE19-62706E023703}">
                      <ahyp:hlinkClr xmlns:ahyp="http://schemas.microsoft.com/office/drawing/2018/hyperlinkcolor" val="tx"/>
                    </a:ext>
                  </a:extLst>
                </a:hlinkClick>
              </a:rPr>
              <a:t>105.doc (suda.edu.cn)</a:t>
            </a:r>
            <a:endParaRPr lang="en-US" altLang="zh-CN" dirty="0">
              <a:solidFill>
                <a:srgbClr val="0808CE"/>
              </a:solidFill>
            </a:endParaRPr>
          </a:p>
          <a:p>
            <a:pPr marL="285750" indent="-285750">
              <a:lnSpc>
                <a:spcPct val="250000"/>
              </a:lnSpc>
              <a:buFont typeface="Wingdings" panose="05000000000000000000" pitchFamily="2" charset="2"/>
              <a:buChar char="Ø"/>
            </a:pPr>
            <a:r>
              <a:rPr lang="en-US" altLang="zh-CN" dirty="0"/>
              <a:t>IIC </a:t>
            </a:r>
            <a:r>
              <a:rPr lang="zh-CN" altLang="en-US" dirty="0"/>
              <a:t>官方手册</a:t>
            </a:r>
            <a:r>
              <a:rPr lang="en-US" dirty="0">
                <a:solidFill>
                  <a:srgbClr val="0808CE"/>
                </a:solidFill>
                <a:hlinkClick r:id="rId3">
                  <a:extLst>
                    <a:ext uri="{A12FA001-AC4F-418D-AE19-62706E023703}">
                      <ahyp:hlinkClr xmlns:ahyp="http://schemas.microsoft.com/office/drawing/2018/hyperlinkcolor" val="tx"/>
                    </a:ext>
                  </a:extLst>
                </a:hlinkClick>
              </a:rPr>
              <a:t>I2C-bus specification and user manual (nxp.com.cn)</a:t>
            </a:r>
            <a:endParaRPr lang="en-US" dirty="0">
              <a:solidFill>
                <a:srgbClr val="0808CE"/>
              </a:solidFill>
            </a:endParaRPr>
          </a:p>
          <a:p>
            <a:endParaRPr lang="en-US" dirty="0"/>
          </a:p>
        </p:txBody>
      </p:sp>
    </p:spTree>
    <p:extLst>
      <p:ext uri="{BB962C8B-B14F-4D97-AF65-F5344CB8AC3E}">
        <p14:creationId xmlns:p14="http://schemas.microsoft.com/office/powerpoint/2010/main" val="389656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grpSp>
        <p:nvGrpSpPr>
          <p:cNvPr id="62" name="Google Shape;62;p1"/>
          <p:cNvGrpSpPr/>
          <p:nvPr/>
        </p:nvGrpSpPr>
        <p:grpSpPr>
          <a:xfrm>
            <a:off x="-48" y="0"/>
            <a:ext cx="12191629" cy="6877981"/>
            <a:chOff x="1043608" y="0"/>
            <a:chExt cx="8100392" cy="5158486"/>
          </a:xfrm>
        </p:grpSpPr>
        <p:sp>
          <p:nvSpPr>
            <p:cNvPr id="63" name="Google Shape;63;p1"/>
            <p:cNvSpPr/>
            <p:nvPr/>
          </p:nvSpPr>
          <p:spPr>
            <a:xfrm>
              <a:off x="1043608" y="0"/>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4" name="Google Shape;64;p1"/>
            <p:cNvSpPr/>
            <p:nvPr/>
          </p:nvSpPr>
          <p:spPr>
            <a:xfrm>
              <a:off x="1043608" y="1203598"/>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5" name="Google Shape;65;p1"/>
            <p:cNvSpPr/>
            <p:nvPr/>
          </p:nvSpPr>
          <p:spPr>
            <a:xfrm>
              <a:off x="1043608" y="3024476"/>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6" name="Google Shape;66;p1"/>
            <p:cNvSpPr/>
            <p:nvPr/>
          </p:nvSpPr>
          <p:spPr>
            <a:xfrm>
              <a:off x="1043608" y="4235554"/>
              <a:ext cx="504056" cy="915566"/>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67" name="Google Shape;67;p1"/>
            <p:cNvSpPr/>
            <p:nvPr/>
          </p:nvSpPr>
          <p:spPr>
            <a:xfrm>
              <a:off x="8892480" y="4906486"/>
              <a:ext cx="251520" cy="252000"/>
            </a:xfrm>
            <a:prstGeom prst="rect">
              <a:avLst/>
            </a:prstGeom>
            <a:noFill/>
            <a:ln>
              <a:noFill/>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grpSp>
      <p:sp>
        <p:nvSpPr>
          <p:cNvPr id="68" name="Google Shape;68;p1"/>
          <p:cNvSpPr txBox="1">
            <a:spLocks noGrp="1"/>
          </p:cNvSpPr>
          <p:nvPr>
            <p:ph type="title"/>
          </p:nvPr>
        </p:nvSpPr>
        <p:spPr>
          <a:xfrm>
            <a:off x="701341" y="1988917"/>
            <a:ext cx="7584800" cy="2400000"/>
          </a:xfrm>
          <a:prstGeom prst="rect">
            <a:avLst/>
          </a:prstGeom>
          <a:noFill/>
          <a:ln>
            <a:noFill/>
          </a:ln>
        </p:spPr>
        <p:txBody>
          <a:bodyPr spcFirstLastPara="1" vert="horz" wrap="square" lIns="121900" tIns="60933" rIns="121900" bIns="60933" rtlCol="0" anchor="t" anchorCtr="0">
            <a:noAutofit/>
          </a:bodyPr>
          <a:lstStyle/>
          <a:p>
            <a:br>
              <a:rPr lang="en-US" sz="5333" dirty="0"/>
            </a:br>
            <a:br>
              <a:rPr lang="en-US" sz="2000" b="0" dirty="0">
                <a:solidFill>
                  <a:srgbClr val="000000"/>
                </a:solidFill>
                <a:effectLst/>
                <a:latin typeface="Consolas" panose="020B0609020204030204" pitchFamily="49" charset="0"/>
              </a:rPr>
            </a:br>
            <a:endParaRPr sz="5333" dirty="0"/>
          </a:p>
        </p:txBody>
      </p:sp>
      <p:sp>
        <p:nvSpPr>
          <p:cNvPr id="13" name="文字方塊 12">
            <a:extLst>
              <a:ext uri="{FF2B5EF4-FFF2-40B4-BE49-F238E27FC236}">
                <a16:creationId xmlns:a16="http://schemas.microsoft.com/office/drawing/2014/main" id="{0AD4CB9A-8E91-41E1-A53C-533EEF5ED788}"/>
              </a:ext>
            </a:extLst>
          </p:cNvPr>
          <p:cNvSpPr txBox="1"/>
          <p:nvPr/>
        </p:nvSpPr>
        <p:spPr>
          <a:xfrm>
            <a:off x="-240704" y="2530175"/>
            <a:ext cx="9787147" cy="1015663"/>
          </a:xfrm>
          <a:prstGeom prst="rect">
            <a:avLst/>
          </a:prstGeom>
          <a:noFill/>
        </p:spPr>
        <p:txBody>
          <a:bodyPr wrap="square">
            <a:spAutoFit/>
          </a:bodyPr>
          <a:lstStyle/>
          <a:p>
            <a:pPr algn="ctr"/>
            <a:r>
              <a:rPr lang="en-US" sz="6000" b="1" i="0" dirty="0">
                <a:solidFill>
                  <a:srgbClr val="222222"/>
                </a:solidFill>
                <a:effectLst/>
                <a:latin typeface="Source Sans Pro" panose="020B0503030403020204" pitchFamily="34" charset="0"/>
              </a:rPr>
              <a:t>Thank you for listening</a:t>
            </a:r>
          </a:p>
        </p:txBody>
      </p:sp>
    </p:spTree>
    <p:extLst>
      <p:ext uri="{BB962C8B-B14F-4D97-AF65-F5344CB8AC3E}">
        <p14:creationId xmlns:p14="http://schemas.microsoft.com/office/powerpoint/2010/main" val="2737337557"/>
      </p:ext>
    </p:extLst>
  </p:cSld>
  <p:clrMapOvr>
    <a:masterClrMapping/>
  </p:clrMapOvr>
  <mc:AlternateContent xmlns:mc="http://schemas.openxmlformats.org/markup-compatibility/2006">
    <mc:Choice xmlns:p14="http://schemas.microsoft.com/office/powerpoint/2010/main" Requires="p14">
      <p:transition spd="slow" p14:dur="2000" advTm="1126"/>
    </mc:Choice>
    <mc:Fallback>
      <p:transition spd="slow" advTm="1126"/>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164646</TotalTime>
  <Words>1639</Words>
  <Application>Microsoft Office PowerPoint</Application>
  <PresentationFormat>寬螢幕</PresentationFormat>
  <Paragraphs>111</Paragraphs>
  <Slides>19</Slides>
  <Notes>4</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19</vt:i4>
      </vt:variant>
    </vt:vector>
  </HeadingPairs>
  <TitlesOfParts>
    <vt:vector size="30" baseType="lpstr">
      <vt:lpstr>-apple-system</vt:lpstr>
      <vt:lpstr>微軟正黑體</vt:lpstr>
      <vt:lpstr>Arial</vt:lpstr>
      <vt:lpstr>Calibri</vt:lpstr>
      <vt:lpstr>Calibri Light</vt:lpstr>
      <vt:lpstr>Century Gothic</vt:lpstr>
      <vt:lpstr>Consolas</vt:lpstr>
      <vt:lpstr>Courier New</vt:lpstr>
      <vt:lpstr>Source Sans Pro</vt:lpstr>
      <vt:lpstr>Wingdings</vt:lpstr>
      <vt:lpstr>Office 佈景主題</vt:lpstr>
      <vt:lpstr> Introduction to I2C Protocol </vt:lpstr>
      <vt:lpstr>Outline</vt:lpstr>
      <vt:lpstr>I2C Introduction</vt:lpstr>
      <vt:lpstr>I2C Introduction</vt:lpstr>
      <vt:lpstr>I2C Physical layer</vt:lpstr>
      <vt:lpstr>I2C Physical layer</vt:lpstr>
      <vt:lpstr>I2C Protocol layer</vt:lpstr>
      <vt:lpstr>I2C Protocol layer</vt:lpstr>
      <vt:lpstr>I2C Protocol layer</vt:lpstr>
      <vt:lpstr>I2C Application（I2C subsystem）</vt:lpstr>
      <vt:lpstr>I2C Application（I2C subsystem）</vt:lpstr>
      <vt:lpstr>I2C Application（I2C subsystem）</vt:lpstr>
      <vt:lpstr>I2C Application（I2C subsystem）</vt:lpstr>
      <vt:lpstr>I2C Application（I2C subsystem）</vt:lpstr>
      <vt:lpstr>I2C Application（SMBus 调用）</vt:lpstr>
      <vt:lpstr>I2C Application（SMBus 调用）</vt:lpstr>
      <vt:lpstr>I3C</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benyoung@msi.com</dc:creator>
  <cp:lastModifiedBy>jieliu(劉傑=研發一處)</cp:lastModifiedBy>
  <cp:revision>2487</cp:revision>
  <dcterms:created xsi:type="dcterms:W3CDTF">2023-02-07T21:27:36Z</dcterms:created>
  <dcterms:modified xsi:type="dcterms:W3CDTF">2024-09-27T03:14:32Z</dcterms:modified>
</cp:coreProperties>
</file>